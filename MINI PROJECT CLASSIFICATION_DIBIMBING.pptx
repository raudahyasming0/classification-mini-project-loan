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58" r:id="rId5"/>
    <p:sldId id="261" r:id="rId6"/>
    <p:sldId id="272" r:id="rId7"/>
    <p:sldId id="273" r:id="rId8"/>
    <p:sldId id="274" r:id="rId9"/>
    <p:sldId id="266" r:id="rId10"/>
    <p:sldId id="262" r:id="rId11"/>
    <p:sldId id="268" r:id="rId12"/>
    <p:sldId id="265" r:id="rId13"/>
    <p:sldId id="264" r:id="rId14"/>
    <p:sldId id="260" r:id="rId15"/>
    <p:sldId id="276" r:id="rId16"/>
    <p:sldId id="267" r:id="rId17"/>
    <p:sldId id="270" r:id="rId18"/>
  </p:sldIdLst>
  <p:sldSz cx="18288000" cy="10287000"/>
  <p:notesSz cx="6858000" cy="9144000"/>
  <p:embeddedFontLst>
    <p:embeddedFont>
      <p:font typeface="Inter Bold" panose="020B0604020202020204" charset="0"/>
      <p:regular r:id="rId20"/>
    </p:embeddedFont>
    <p:embeddedFont>
      <p:font typeface="Inter Ultra-Bold" panose="020B0604020202020204" charset="0"/>
      <p:regular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Open Sans Bold" panose="020B0806030504020204" charset="0"/>
      <p:regular r:id="rId26"/>
    </p:embeddedFont>
    <p:embeddedFont>
      <p:font typeface="Open Sans Semi-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105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219CF-34C8-4980-AF29-362084993E2C}" type="datetimeFigureOut">
              <a:rPr lang="en-ID" smtClean="0"/>
              <a:t>27/02/2025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95BE4-65C4-4AAC-91B1-051F9F9B440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1130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95BE4-65C4-4AAC-91B1-051F9F9B4405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605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datasets/taweilo/loan-approval-classification-data/dat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linkedin.com/in/raudahyasminghozali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3.jpeg"/><Relationship Id="rId9" Type="http://schemas.openxmlformats.org/officeDocument/2006/relationships/hyperlink" Target="https://github.com/RaudahYasminG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02759" y="6802807"/>
            <a:ext cx="5402508" cy="540250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74658" y="8563446"/>
            <a:ext cx="16138684" cy="0"/>
          </a:xfrm>
          <a:prstGeom prst="line">
            <a:avLst/>
          </a:prstGeom>
          <a:ln w="38100" cap="flat">
            <a:solidFill>
              <a:srgbClr val="1772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grpSp>
        <p:nvGrpSpPr>
          <p:cNvPr id="6" name="Group 6"/>
          <p:cNvGrpSpPr/>
          <p:nvPr/>
        </p:nvGrpSpPr>
        <p:grpSpPr>
          <a:xfrm>
            <a:off x="10785978" y="1231643"/>
            <a:ext cx="4758515" cy="475851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6275918" y="793769"/>
            <a:ext cx="633545" cy="300142"/>
          </a:xfrm>
          <a:custGeom>
            <a:avLst/>
            <a:gdLst/>
            <a:ahLst/>
            <a:cxnLst/>
            <a:rect l="l" t="t" r="r" b="b"/>
            <a:pathLst>
              <a:path w="633545" h="300142">
                <a:moveTo>
                  <a:pt x="0" y="0"/>
                </a:moveTo>
                <a:lnTo>
                  <a:pt x="633545" y="0"/>
                </a:lnTo>
                <a:lnTo>
                  <a:pt x="633545" y="300141"/>
                </a:lnTo>
                <a:lnTo>
                  <a:pt x="0" y="30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7" name="TextBox 17"/>
          <p:cNvSpPr txBox="1"/>
          <p:nvPr/>
        </p:nvSpPr>
        <p:spPr>
          <a:xfrm>
            <a:off x="1298495" y="2781300"/>
            <a:ext cx="12599989" cy="3385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1000" b="1" dirty="0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LOAN APPROVAL CLASSIFICATION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344595" y="8862553"/>
            <a:ext cx="2868747" cy="36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99"/>
              </a:lnSpc>
            </a:pPr>
            <a:r>
              <a:rPr lang="en-US" sz="19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FEBRUARI 2025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187866" y="448297"/>
            <a:ext cx="4588303" cy="40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000" b="1" dirty="0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Digital Skill Fair 36.0 – Data Science</a:t>
            </a:r>
          </a:p>
        </p:txBody>
      </p:sp>
      <p:pic>
        <p:nvPicPr>
          <p:cNvPr id="28" name="Picture 27" descr="A blue text on a white background&#10;&#10;AI-generated content may be incorrect.">
            <a:extLst>
              <a:ext uri="{FF2B5EF4-FFF2-40B4-BE49-F238E27FC236}">
                <a16:creationId xmlns:a16="http://schemas.microsoft.com/office/drawing/2014/main" id="{1F46B590-8DEA-74A1-ED8A-DD6CC8E99B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49118"/>
            <a:ext cx="2382509" cy="722197"/>
          </a:xfrm>
          <a:prstGeom prst="rect">
            <a:avLst/>
          </a:prstGeom>
        </p:spPr>
      </p:pic>
      <p:grpSp>
        <p:nvGrpSpPr>
          <p:cNvPr id="31" name="Group 9">
            <a:extLst>
              <a:ext uri="{FF2B5EF4-FFF2-40B4-BE49-F238E27FC236}">
                <a16:creationId xmlns:a16="http://schemas.microsoft.com/office/drawing/2014/main" id="{5C14757E-B968-37D6-E187-E2358C20F921}"/>
              </a:ext>
            </a:extLst>
          </p:cNvPr>
          <p:cNvGrpSpPr/>
          <p:nvPr/>
        </p:nvGrpSpPr>
        <p:grpSpPr>
          <a:xfrm>
            <a:off x="1337069" y="7654208"/>
            <a:ext cx="447675" cy="447675"/>
            <a:chOff x="0" y="0"/>
            <a:chExt cx="812800" cy="812800"/>
          </a:xfrm>
        </p:grpSpPr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4FF0897-1582-2A08-1E2D-7190B6F57C4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33" name="TextBox 11">
              <a:extLst>
                <a:ext uri="{FF2B5EF4-FFF2-40B4-BE49-F238E27FC236}">
                  <a16:creationId xmlns:a16="http://schemas.microsoft.com/office/drawing/2014/main" id="{79E1D3F4-F423-0A5A-FFD5-2FCC08E50526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34" name="TextBox 25">
            <a:extLst>
              <a:ext uri="{FF2B5EF4-FFF2-40B4-BE49-F238E27FC236}">
                <a16:creationId xmlns:a16="http://schemas.microsoft.com/office/drawing/2014/main" id="{718BA40B-0B14-183B-2A04-162BD0ED061D}"/>
              </a:ext>
            </a:extLst>
          </p:cNvPr>
          <p:cNvSpPr txBox="1"/>
          <p:nvPr/>
        </p:nvSpPr>
        <p:spPr>
          <a:xfrm>
            <a:off x="1953254" y="7608805"/>
            <a:ext cx="806934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3000" b="1" spc="207" dirty="0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RAUDAH YASMIN GHOZALI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79" descr="A blue and black logo&#10;&#10;AI-generated content may be incorrect.">
            <a:extLst>
              <a:ext uri="{FF2B5EF4-FFF2-40B4-BE49-F238E27FC236}">
                <a16:creationId xmlns:a16="http://schemas.microsoft.com/office/drawing/2014/main" id="{A5B356C4-B0B0-D7BB-D24F-F819DE4A9A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6170" y="4556918"/>
            <a:ext cx="3657393" cy="872288"/>
          </a:xfrm>
          <a:prstGeom prst="rect">
            <a:avLst/>
          </a:prstGeom>
        </p:spPr>
      </p:pic>
      <p:pic>
        <p:nvPicPr>
          <p:cNvPr id="84" name="Picture 83" descr="A blue and yellow snake&#10;&#10;AI-generated content may be incorrect.">
            <a:extLst>
              <a:ext uri="{FF2B5EF4-FFF2-40B4-BE49-F238E27FC236}">
                <a16:creationId xmlns:a16="http://schemas.microsoft.com/office/drawing/2014/main" id="{2B9727BA-C79D-1F91-A9E3-066A950804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8735" y="4133108"/>
            <a:ext cx="2553203" cy="2553203"/>
          </a:xfrm>
          <a:prstGeom prst="rect">
            <a:avLst/>
          </a:prstGeom>
        </p:spPr>
      </p:pic>
      <p:pic>
        <p:nvPicPr>
          <p:cNvPr id="78" name="Picture 77" descr="A logo with a circle and a blue circle&#10;&#10;AI-generated content may be incorrect.">
            <a:extLst>
              <a:ext uri="{FF2B5EF4-FFF2-40B4-BE49-F238E27FC236}">
                <a16:creationId xmlns:a16="http://schemas.microsoft.com/office/drawing/2014/main" id="{C945D2B5-567D-0C15-6F64-681722A9B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5704" y="7145559"/>
            <a:ext cx="2613243" cy="2613243"/>
          </a:xfrm>
          <a:prstGeom prst="rect">
            <a:avLst/>
          </a:prstGeom>
        </p:spPr>
      </p:pic>
      <p:pic>
        <p:nvPicPr>
          <p:cNvPr id="74" name="Picture 73" descr="A blue and white circle with a colorful circle and a blue letter&#10;&#10;AI-generated content may be incorrect.">
            <a:extLst>
              <a:ext uri="{FF2B5EF4-FFF2-40B4-BE49-F238E27FC236}">
                <a16:creationId xmlns:a16="http://schemas.microsoft.com/office/drawing/2014/main" id="{8A8533A4-EFF4-F9A2-9F51-175E586522A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8170011"/>
            <a:ext cx="3658659" cy="735390"/>
          </a:xfrm>
          <a:prstGeom prst="rect">
            <a:avLst/>
          </a:prstGeom>
        </p:spPr>
      </p:pic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C034BB4-8B50-4484-85C4-0CE469928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285287" y="0"/>
            <a:ext cx="0" cy="10287000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Picture 8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C703C412-B879-7BD0-8480-C9E4AA3FE9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9788" y="1009895"/>
            <a:ext cx="3552998" cy="1372265"/>
          </a:xfrm>
          <a:prstGeom prst="rect">
            <a:avLst/>
          </a:prstGeom>
        </p:spPr>
      </p:pic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1B200F7-B57A-4824-BB91-B6624450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44000" y="3343155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A92245C-961F-47D5-9691-272D28692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205125" y="6872704"/>
            <a:ext cx="908287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Picture 75" descr="A blue and black logo&#10;&#10;AI-generated content may be incorrect.">
            <a:extLst>
              <a:ext uri="{FF2B5EF4-FFF2-40B4-BE49-F238E27FC236}">
                <a16:creationId xmlns:a16="http://schemas.microsoft.com/office/drawing/2014/main" id="{DBE969AE-1A59-6111-7BCC-845ED4A2590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600" y="1271851"/>
            <a:ext cx="3554898" cy="1052249"/>
          </a:xfrm>
          <a:prstGeom prst="rect">
            <a:avLst/>
          </a:prstGeom>
        </p:spPr>
      </p:pic>
      <p:grpSp>
        <p:nvGrpSpPr>
          <p:cNvPr id="85" name="Group 2">
            <a:extLst>
              <a:ext uri="{FF2B5EF4-FFF2-40B4-BE49-F238E27FC236}">
                <a16:creationId xmlns:a16="http://schemas.microsoft.com/office/drawing/2014/main" id="{8BE2C45A-0982-22D4-9C98-DB5D24AA85EB}"/>
              </a:ext>
            </a:extLst>
          </p:cNvPr>
          <p:cNvGrpSpPr/>
          <p:nvPr/>
        </p:nvGrpSpPr>
        <p:grpSpPr>
          <a:xfrm>
            <a:off x="-12499" y="-2"/>
            <a:ext cx="5898820" cy="10287001"/>
            <a:chOff x="0" y="0"/>
            <a:chExt cx="1321562" cy="2709333"/>
          </a:xfrm>
        </p:grpSpPr>
        <p:sp>
          <p:nvSpPr>
            <p:cNvPr id="86" name="Freeform 3">
              <a:extLst>
                <a:ext uri="{FF2B5EF4-FFF2-40B4-BE49-F238E27FC236}">
                  <a16:creationId xmlns:a16="http://schemas.microsoft.com/office/drawing/2014/main" id="{CBD994A4-822D-3A34-E727-56080797E17F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87" name="TextBox 4">
              <a:extLst>
                <a:ext uri="{FF2B5EF4-FFF2-40B4-BE49-F238E27FC236}">
                  <a16:creationId xmlns:a16="http://schemas.microsoft.com/office/drawing/2014/main" id="{4D345330-EB08-336F-D70A-27B6AABF080D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88" name="TextBox 33">
            <a:extLst>
              <a:ext uri="{FF2B5EF4-FFF2-40B4-BE49-F238E27FC236}">
                <a16:creationId xmlns:a16="http://schemas.microsoft.com/office/drawing/2014/main" id="{79CFAA31-1541-2B5C-9164-8E34D9A70019}"/>
              </a:ext>
            </a:extLst>
          </p:cNvPr>
          <p:cNvSpPr txBox="1"/>
          <p:nvPr/>
        </p:nvSpPr>
        <p:spPr>
          <a:xfrm>
            <a:off x="558704" y="2132169"/>
            <a:ext cx="6746831" cy="3581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500" b="1" kern="1200" dirty="0">
                <a:solidFill>
                  <a:schemeClr val="bg1"/>
                </a:solidFill>
                <a:latin typeface="Inter Bold" panose="020B0604020202020204" charset="0"/>
                <a:ea typeface="Inter Bold" panose="020B0604020202020204" charset="0"/>
                <a:cs typeface="+mj-cs"/>
                <a:sym typeface="Inter Bold"/>
              </a:rPr>
              <a:t>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15800" y="7505700"/>
            <a:ext cx="6477001" cy="2781300"/>
            <a:chOff x="0" y="0"/>
            <a:chExt cx="132156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9151339"/>
            <a:ext cx="1028700" cy="1135661"/>
            <a:chOff x="0" y="0"/>
            <a:chExt cx="270933" cy="2991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99104"/>
            </a:xfrm>
            <a:custGeom>
              <a:avLst/>
              <a:gdLst/>
              <a:ahLst/>
              <a:cxnLst/>
              <a:rect l="l" t="t" r="r" b="b"/>
              <a:pathLst>
                <a:path w="270933" h="299104">
                  <a:moveTo>
                    <a:pt x="0" y="0"/>
                  </a:moveTo>
                  <a:lnTo>
                    <a:pt x="270933" y="0"/>
                  </a:lnTo>
                  <a:lnTo>
                    <a:pt x="270933" y="299104"/>
                  </a:lnTo>
                  <a:lnTo>
                    <a:pt x="0" y="299104"/>
                  </a:ln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0933" cy="3467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66642" y="0"/>
            <a:ext cx="1028700" cy="1135661"/>
            <a:chOff x="0" y="0"/>
            <a:chExt cx="270933" cy="2991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0933" cy="299104"/>
            </a:xfrm>
            <a:custGeom>
              <a:avLst/>
              <a:gdLst/>
              <a:ahLst/>
              <a:cxnLst/>
              <a:rect l="l" t="t" r="r" b="b"/>
              <a:pathLst>
                <a:path w="270933" h="299104">
                  <a:moveTo>
                    <a:pt x="0" y="0"/>
                  </a:moveTo>
                  <a:lnTo>
                    <a:pt x="270933" y="0"/>
                  </a:lnTo>
                  <a:lnTo>
                    <a:pt x="270933" y="299104"/>
                  </a:lnTo>
                  <a:lnTo>
                    <a:pt x="0" y="299104"/>
                  </a:ln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70933" cy="3467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268930" y="-1638300"/>
            <a:ext cx="5402508" cy="540250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647700"/>
            <a:ext cx="8809238" cy="911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5000" b="1" dirty="0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DESKRIPSI VARIABEL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62000" y="670005"/>
            <a:ext cx="0" cy="984913"/>
          </a:xfrm>
          <a:prstGeom prst="line">
            <a:avLst/>
          </a:prstGeom>
          <a:ln w="76200" cap="flat">
            <a:solidFill>
              <a:srgbClr val="EAE4D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grpSp>
        <p:nvGrpSpPr>
          <p:cNvPr id="20" name="Group 20"/>
          <p:cNvGrpSpPr/>
          <p:nvPr/>
        </p:nvGrpSpPr>
        <p:grpSpPr>
          <a:xfrm>
            <a:off x="10196488" y="1215940"/>
            <a:ext cx="715180" cy="71518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17726D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4F98714-0063-7C63-45FB-A8BB0A8CD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579912"/>
              </p:ext>
            </p:extLst>
          </p:nvPr>
        </p:nvGraphicFramePr>
        <p:xfrm>
          <a:off x="838200" y="2887420"/>
          <a:ext cx="6776744" cy="675187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2894491">
                  <a:extLst>
                    <a:ext uri="{9D8B030D-6E8A-4147-A177-3AD203B41FA5}">
                      <a16:colId xmlns:a16="http://schemas.microsoft.com/office/drawing/2014/main" val="1457096588"/>
                    </a:ext>
                  </a:extLst>
                </a:gridCol>
                <a:gridCol w="3882253">
                  <a:extLst>
                    <a:ext uri="{9D8B030D-6E8A-4147-A177-3AD203B41FA5}">
                      <a16:colId xmlns:a16="http://schemas.microsoft.com/office/drawing/2014/main" val="2455844361"/>
                    </a:ext>
                  </a:extLst>
                </a:gridCol>
              </a:tblGrid>
              <a:tr h="410397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Variabel</a:t>
                      </a:r>
                      <a:endParaRPr lang="en-ID" b="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Deskripsi</a:t>
                      </a:r>
                      <a:endParaRPr lang="en-ID" b="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786779"/>
                  </a:ext>
                </a:extLst>
              </a:tr>
              <a:tr h="410397">
                <a:tc>
                  <a:txBody>
                    <a:bodyPr/>
                    <a:lstStyle/>
                    <a:p>
                      <a:r>
                        <a:rPr lang="en-ID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person_age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b="0" kern="1200" dirty="0">
                          <a:solidFill>
                            <a:schemeClr val="dk1"/>
                          </a:solidFill>
                          <a:effectLst/>
                        </a:rPr>
                        <a:t>Age of the person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28892"/>
                  </a:ext>
                </a:extLst>
              </a:tr>
              <a:tr h="410397">
                <a:tc>
                  <a:txBody>
                    <a:bodyPr/>
                    <a:lstStyle/>
                    <a:p>
                      <a:r>
                        <a:rPr lang="en-ID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person_gender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b="0" kern="1200" dirty="0">
                          <a:solidFill>
                            <a:schemeClr val="dk1"/>
                          </a:solidFill>
                          <a:effectLst/>
                        </a:rPr>
                        <a:t>Gender of the person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671326"/>
                  </a:ext>
                </a:extLst>
              </a:tr>
              <a:tr h="410397">
                <a:tc>
                  <a:txBody>
                    <a:bodyPr/>
                    <a:lstStyle/>
                    <a:p>
                      <a:r>
                        <a:rPr lang="en-ID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person_education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b="0" kern="1200" dirty="0">
                          <a:solidFill>
                            <a:schemeClr val="dk1"/>
                          </a:solidFill>
                          <a:effectLst/>
                        </a:rPr>
                        <a:t>Highest education level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90585"/>
                  </a:ext>
                </a:extLst>
              </a:tr>
              <a:tr h="410397">
                <a:tc>
                  <a:txBody>
                    <a:bodyPr/>
                    <a:lstStyle/>
                    <a:p>
                      <a:r>
                        <a:rPr lang="en-ID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person_income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b="0" kern="1200" dirty="0">
                          <a:solidFill>
                            <a:schemeClr val="dk1"/>
                          </a:solidFill>
                          <a:effectLst/>
                        </a:rPr>
                        <a:t>Annual income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58399"/>
                  </a:ext>
                </a:extLst>
              </a:tr>
              <a:tr h="410397">
                <a:tc>
                  <a:txBody>
                    <a:bodyPr/>
                    <a:lstStyle/>
                    <a:p>
                      <a:r>
                        <a:rPr lang="en-ID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person_emp_exp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b="0" kern="1200" dirty="0">
                          <a:solidFill>
                            <a:schemeClr val="dk1"/>
                          </a:solidFill>
                          <a:effectLst/>
                        </a:rPr>
                        <a:t>Years of employment experience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572792"/>
                  </a:ext>
                </a:extLst>
              </a:tr>
              <a:tr h="410397">
                <a:tc>
                  <a:txBody>
                    <a:bodyPr/>
                    <a:lstStyle/>
                    <a:p>
                      <a:r>
                        <a:rPr lang="en-ID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person_home_ownership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b="0" kern="1200" dirty="0">
                          <a:solidFill>
                            <a:schemeClr val="dk1"/>
                          </a:solidFill>
                          <a:effectLst/>
                        </a:rPr>
                        <a:t>Home ownership status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279683"/>
                  </a:ext>
                </a:extLst>
              </a:tr>
              <a:tr h="410397">
                <a:tc>
                  <a:txBody>
                    <a:bodyPr/>
                    <a:lstStyle/>
                    <a:p>
                      <a:r>
                        <a:rPr lang="en-ID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loan_amnt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b="0" kern="1200" dirty="0">
                          <a:solidFill>
                            <a:schemeClr val="dk1"/>
                          </a:solidFill>
                          <a:effectLst/>
                        </a:rPr>
                        <a:t>Loan amount requested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539549"/>
                  </a:ext>
                </a:extLst>
              </a:tr>
              <a:tr h="410397">
                <a:tc>
                  <a:txBody>
                    <a:bodyPr/>
                    <a:lstStyle/>
                    <a:p>
                      <a:r>
                        <a:rPr lang="en-ID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loan_intent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b="0" kern="1200" dirty="0">
                          <a:solidFill>
                            <a:schemeClr val="dk1"/>
                          </a:solidFill>
                          <a:effectLst/>
                        </a:rPr>
                        <a:t>Purpose of the loan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611686"/>
                  </a:ext>
                </a:extLst>
              </a:tr>
              <a:tr h="410397">
                <a:tc>
                  <a:txBody>
                    <a:bodyPr/>
                    <a:lstStyle/>
                    <a:p>
                      <a:r>
                        <a:rPr lang="en-ID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loan_int_rate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b="0" kern="1200" dirty="0">
                          <a:solidFill>
                            <a:schemeClr val="dk1"/>
                          </a:solidFill>
                          <a:effectLst/>
                        </a:rPr>
                        <a:t>Loan interest rate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35267"/>
                  </a:ext>
                </a:extLst>
              </a:tr>
              <a:tr h="708357">
                <a:tc>
                  <a:txBody>
                    <a:bodyPr/>
                    <a:lstStyle/>
                    <a:p>
                      <a:r>
                        <a:rPr lang="en-ID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loan_percent_income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Loan amount as a percentage of annual income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138734"/>
                  </a:ext>
                </a:extLst>
              </a:tr>
              <a:tr h="410397"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cb_person_cred_hist_length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Length of credit history in years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460570"/>
                  </a:ext>
                </a:extLst>
              </a:tr>
              <a:tr h="410397">
                <a:tc>
                  <a:txBody>
                    <a:bodyPr/>
                    <a:lstStyle/>
                    <a:p>
                      <a:r>
                        <a:rPr lang="en-ID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credit_score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Credit score of the person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92131"/>
                  </a:ext>
                </a:extLst>
              </a:tr>
              <a:tr h="708357"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previous_loan_defaults_on_file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Indicator of previous loan defaults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915196"/>
                  </a:ext>
                </a:extLst>
              </a:tr>
              <a:tr h="410397">
                <a:tc>
                  <a:txBody>
                    <a:bodyPr/>
                    <a:lstStyle/>
                    <a:p>
                      <a:r>
                        <a:rPr lang="en-ID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loan_status</a:t>
                      </a:r>
                      <a:r>
                        <a:rPr lang="en-ID" sz="1800" b="0" kern="1200" dirty="0">
                          <a:solidFill>
                            <a:schemeClr val="dk1"/>
                          </a:solidFill>
                          <a:effectLst/>
                        </a:rPr>
                        <a:t> (target variable)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b="0" kern="1200" dirty="0">
                          <a:solidFill>
                            <a:schemeClr val="dk1"/>
                          </a:solidFill>
                          <a:effectLst/>
                        </a:rPr>
                        <a:t>Loan approval status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276924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4AA14AF-F2FE-4938-0475-F343CA446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158224"/>
            <a:ext cx="9215103" cy="458547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F0BD335-E17C-D14F-21B3-3CE327B414F5}"/>
              </a:ext>
            </a:extLst>
          </p:cNvPr>
          <p:cNvSpPr txBox="1"/>
          <p:nvPr/>
        </p:nvSpPr>
        <p:spPr>
          <a:xfrm>
            <a:off x="12580599" y="8324182"/>
            <a:ext cx="4826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https://www.kaggle.com/datasets/taweilo/loan-approval-classification-data/data</a:t>
            </a:r>
            <a:endParaRPr lang="en-ID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AE1EB3-4346-8140-FEF2-573902B9C54C}"/>
              </a:ext>
            </a:extLst>
          </p:cNvPr>
          <p:cNvSpPr txBox="1"/>
          <p:nvPr/>
        </p:nvSpPr>
        <p:spPr>
          <a:xfrm>
            <a:off x="12580599" y="7924072"/>
            <a:ext cx="18746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</a:t>
            </a:r>
            <a:r>
              <a:rPr lang="en-ID" sz="2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ink dataset: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" y="0"/>
            <a:ext cx="6371553" cy="10287000"/>
            <a:chOff x="0" y="0"/>
            <a:chExt cx="16614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1494" cy="2709333"/>
            </a:xfrm>
            <a:custGeom>
              <a:avLst/>
              <a:gdLst/>
              <a:ahLst/>
              <a:cxnLst/>
              <a:rect l="l" t="t" r="r" b="b"/>
              <a:pathLst>
                <a:path w="1661494" h="2709333">
                  <a:moveTo>
                    <a:pt x="0" y="0"/>
                  </a:moveTo>
                  <a:lnTo>
                    <a:pt x="1661494" y="0"/>
                  </a:lnTo>
                  <a:lnTo>
                    <a:pt x="16614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614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11459247" y="1485900"/>
            <a:ext cx="6371553" cy="0"/>
          </a:xfrm>
          <a:prstGeom prst="line">
            <a:avLst/>
          </a:prstGeom>
          <a:ln w="76200" cap="flat">
            <a:solidFill>
              <a:srgbClr val="EAE4D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algn="r"/>
            <a:endParaRPr lang="en-ID"/>
          </a:p>
        </p:txBody>
      </p:sp>
      <p:sp>
        <p:nvSpPr>
          <p:cNvPr id="15" name="TextBox 15"/>
          <p:cNvSpPr txBox="1"/>
          <p:nvPr/>
        </p:nvSpPr>
        <p:spPr>
          <a:xfrm>
            <a:off x="9091101" y="342900"/>
            <a:ext cx="8168199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560"/>
              </a:lnSpc>
            </a:pPr>
            <a:r>
              <a:rPr lang="en-US" sz="6600" b="1" dirty="0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IMPORT DATA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4871011" y="6031106"/>
            <a:ext cx="5402508" cy="5402508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50322" y="2157741"/>
            <a:ext cx="5470903" cy="2631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224"/>
              </a:lnSpc>
            </a:pPr>
            <a:r>
              <a:rPr lang="en-US" sz="2200" b="1" spc="96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Impor</a:t>
            </a:r>
            <a:r>
              <a:rPr lang="en-US" sz="2200" b="1" spc="96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200" b="1" spc="96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dari</a:t>
            </a:r>
            <a:r>
              <a:rPr lang="en-US" sz="2200" b="1" spc="96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device dan </a:t>
            </a:r>
            <a:r>
              <a:rPr lang="en-US" sz="2200" b="1" spc="96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diupload</a:t>
            </a:r>
            <a:r>
              <a:rPr lang="en-US" sz="2200" b="1" spc="96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b="1" spc="96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</a:t>
            </a:r>
            <a:r>
              <a:rPr lang="en-US" sz="2200" b="1" spc="96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Google </a:t>
            </a:r>
            <a:r>
              <a:rPr lang="en-US" sz="2200" b="1" spc="96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Colab</a:t>
            </a:r>
            <a:r>
              <a:rPr lang="en-US" sz="2200" b="1" spc="96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2200" b="1" spc="96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Setelah</a:t>
            </a:r>
            <a:r>
              <a:rPr lang="en-US" sz="2200" b="1" spc="96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b="1" spc="96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itu</a:t>
            </a:r>
            <a:r>
              <a:rPr lang="en-US" sz="2200" b="1" spc="96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b="1" spc="96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untuk</a:t>
            </a:r>
            <a:r>
              <a:rPr lang="en-US" sz="2200" b="1" spc="96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b="1" spc="96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memunculkan</a:t>
            </a:r>
            <a:r>
              <a:rPr lang="en-US" sz="2200" b="1" spc="96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200" b="1" spc="96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menggunakan</a:t>
            </a:r>
            <a:r>
              <a:rPr lang="en-US" sz="2200" b="1" spc="96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pandas dan </a:t>
            </a:r>
            <a:r>
              <a:rPr lang="en-US" sz="2200" b="1" spc="96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untuk</a:t>
            </a:r>
            <a:r>
              <a:rPr lang="en-US" sz="2200" b="1" spc="96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b="1" spc="96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membaca</a:t>
            </a:r>
            <a:r>
              <a:rPr lang="en-US" sz="2200" b="1" spc="96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file </a:t>
            </a:r>
            <a:r>
              <a:rPr lang="en-US" sz="2200" b="1" spc="96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disesuaikan</a:t>
            </a:r>
            <a:r>
              <a:rPr lang="en-US" sz="2200" b="1" spc="96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b="1" spc="96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dengan</a:t>
            </a:r>
            <a:r>
              <a:rPr lang="en-US" sz="2200" b="1" spc="96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format file.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70F286-FA62-6812-95DA-A7A26B0F0E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339"/>
          <a:stretch/>
        </p:blipFill>
        <p:spPr>
          <a:xfrm>
            <a:off x="11658600" y="1846934"/>
            <a:ext cx="5146904" cy="206659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C185082-5A70-974D-48DB-C9F46C86F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097724"/>
            <a:ext cx="5972755" cy="18077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4525CF9-6A6C-A598-A398-861B49DD5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6101874"/>
            <a:ext cx="15392400" cy="3899522"/>
          </a:xfrm>
          <a:prstGeom prst="rect">
            <a:avLst/>
          </a:prstGeom>
        </p:spPr>
      </p:pic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F1FB8295-D830-C748-4067-E852703261E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224245" y="2929197"/>
            <a:ext cx="1205755" cy="918903"/>
          </a:xfrm>
          <a:prstGeom prst="bentConnector3">
            <a:avLst>
              <a:gd name="adj1" fmla="val 100106"/>
            </a:avLst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34610" y="0"/>
            <a:ext cx="5653390" cy="10287000"/>
            <a:chOff x="0" y="0"/>
            <a:chExt cx="148895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8959" cy="2709333"/>
            </a:xfrm>
            <a:custGeom>
              <a:avLst/>
              <a:gdLst/>
              <a:ahLst/>
              <a:cxnLst/>
              <a:rect l="l" t="t" r="r" b="b"/>
              <a:pathLst>
                <a:path w="1488959" h="2709333">
                  <a:moveTo>
                    <a:pt x="0" y="0"/>
                  </a:moveTo>
                  <a:lnTo>
                    <a:pt x="1488959" y="0"/>
                  </a:lnTo>
                  <a:lnTo>
                    <a:pt x="14889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488959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400866" y="0"/>
            <a:ext cx="863406" cy="1914819"/>
            <a:chOff x="0" y="0"/>
            <a:chExt cx="227399" cy="50431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7399" cy="504314"/>
            </a:xfrm>
            <a:custGeom>
              <a:avLst/>
              <a:gdLst/>
              <a:ahLst/>
              <a:cxnLst/>
              <a:rect l="l" t="t" r="r" b="b"/>
              <a:pathLst>
                <a:path w="227399" h="504314">
                  <a:moveTo>
                    <a:pt x="0" y="0"/>
                  </a:moveTo>
                  <a:lnTo>
                    <a:pt x="227399" y="0"/>
                  </a:lnTo>
                  <a:lnTo>
                    <a:pt x="227399" y="504314"/>
                  </a:lnTo>
                  <a:lnTo>
                    <a:pt x="0" y="504314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27399" cy="551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1061650" y="8036778"/>
            <a:ext cx="3803190" cy="380319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0" y="10094695"/>
            <a:ext cx="18264272" cy="192305"/>
            <a:chOff x="0" y="0"/>
            <a:chExt cx="4810343" cy="506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343" cy="50648"/>
            </a:xfrm>
            <a:custGeom>
              <a:avLst/>
              <a:gdLst/>
              <a:ahLst/>
              <a:cxnLst/>
              <a:rect l="l" t="t" r="r" b="b"/>
              <a:pathLst>
                <a:path w="4810343" h="50648">
                  <a:moveTo>
                    <a:pt x="0" y="0"/>
                  </a:moveTo>
                  <a:lnTo>
                    <a:pt x="4810343" y="0"/>
                  </a:lnTo>
                  <a:lnTo>
                    <a:pt x="4810343" y="50648"/>
                  </a:lnTo>
                  <a:lnTo>
                    <a:pt x="0" y="50648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4810343" cy="98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94537" y="353346"/>
            <a:ext cx="15002663" cy="911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6000" b="1" dirty="0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EXPLORATORY DATA ANALYSIS (EDA)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50597" y="3553056"/>
            <a:ext cx="6724626" cy="2807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Informasi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digunakan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untuk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mengetahui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berapa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banyak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entri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dan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variabel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pada dataset, dan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tipe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setiap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variabel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Informasi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digunakan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untuk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langkah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preprocessing data.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dilihat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dataset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memiliki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45000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entri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dengan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variabel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sebanyak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14 </a:t>
            </a:r>
            <a:r>
              <a:rPr lang="en-US" sz="2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kolom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5960043" y="775752"/>
            <a:ext cx="715180" cy="715180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17726D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C2063C8E-1686-E145-3364-4FBE8EFCE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956475"/>
            <a:ext cx="8088205" cy="6759025"/>
          </a:xfrm>
          <a:prstGeom prst="rect">
            <a:avLst/>
          </a:prstGeom>
        </p:spPr>
      </p:pic>
      <p:sp>
        <p:nvSpPr>
          <p:cNvPr id="5" name="TextBox 15">
            <a:extLst>
              <a:ext uri="{FF2B5EF4-FFF2-40B4-BE49-F238E27FC236}">
                <a16:creationId xmlns:a16="http://schemas.microsoft.com/office/drawing/2014/main" id="{D0EFE989-A334-36D9-5B54-49B412FA4C6E}"/>
              </a:ext>
            </a:extLst>
          </p:cNvPr>
          <p:cNvSpPr txBox="1"/>
          <p:nvPr/>
        </p:nvSpPr>
        <p:spPr>
          <a:xfrm>
            <a:off x="990600" y="2095500"/>
            <a:ext cx="3900791" cy="449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4000" b="1" dirty="0" err="1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Informasi</a:t>
            </a:r>
            <a:r>
              <a:rPr lang="en-US" sz="4000" b="1" dirty="0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0262C-4880-0C39-9DE6-CE799A2FD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18E7812-448B-948C-6275-DE98795FA742}"/>
              </a:ext>
            </a:extLst>
          </p:cNvPr>
          <p:cNvGrpSpPr/>
          <p:nvPr/>
        </p:nvGrpSpPr>
        <p:grpSpPr>
          <a:xfrm>
            <a:off x="12634610" y="0"/>
            <a:ext cx="5653390" cy="10287000"/>
            <a:chOff x="0" y="0"/>
            <a:chExt cx="1488959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877F93-4B19-45EB-742F-F2FC139C4BD2}"/>
                </a:ext>
              </a:extLst>
            </p:cNvPr>
            <p:cNvSpPr/>
            <p:nvPr/>
          </p:nvSpPr>
          <p:spPr>
            <a:xfrm>
              <a:off x="0" y="0"/>
              <a:ext cx="1488959" cy="2709333"/>
            </a:xfrm>
            <a:custGeom>
              <a:avLst/>
              <a:gdLst/>
              <a:ahLst/>
              <a:cxnLst/>
              <a:rect l="l" t="t" r="r" b="b"/>
              <a:pathLst>
                <a:path w="1488959" h="2709333">
                  <a:moveTo>
                    <a:pt x="0" y="0"/>
                  </a:moveTo>
                  <a:lnTo>
                    <a:pt x="1488959" y="0"/>
                  </a:lnTo>
                  <a:lnTo>
                    <a:pt x="14889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60FA20C-ECFE-4AD5-27D1-65A74ECDFAEE}"/>
                </a:ext>
              </a:extLst>
            </p:cNvPr>
            <p:cNvSpPr txBox="1"/>
            <p:nvPr/>
          </p:nvSpPr>
          <p:spPr>
            <a:xfrm>
              <a:off x="0" y="-47625"/>
              <a:ext cx="1488959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F93F10FB-1EB2-319E-9DE4-5C32F6A99DD9}"/>
              </a:ext>
            </a:extLst>
          </p:cNvPr>
          <p:cNvGrpSpPr/>
          <p:nvPr/>
        </p:nvGrpSpPr>
        <p:grpSpPr>
          <a:xfrm>
            <a:off x="17400866" y="0"/>
            <a:ext cx="863406" cy="1914819"/>
            <a:chOff x="0" y="0"/>
            <a:chExt cx="227399" cy="504314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DC14A96-4665-B1C9-5E0A-7A852D9789D2}"/>
                </a:ext>
              </a:extLst>
            </p:cNvPr>
            <p:cNvSpPr/>
            <p:nvPr/>
          </p:nvSpPr>
          <p:spPr>
            <a:xfrm>
              <a:off x="0" y="0"/>
              <a:ext cx="227399" cy="504314"/>
            </a:xfrm>
            <a:custGeom>
              <a:avLst/>
              <a:gdLst/>
              <a:ahLst/>
              <a:cxnLst/>
              <a:rect l="l" t="t" r="r" b="b"/>
              <a:pathLst>
                <a:path w="227399" h="504314">
                  <a:moveTo>
                    <a:pt x="0" y="0"/>
                  </a:moveTo>
                  <a:lnTo>
                    <a:pt x="227399" y="0"/>
                  </a:lnTo>
                  <a:lnTo>
                    <a:pt x="227399" y="504314"/>
                  </a:lnTo>
                  <a:lnTo>
                    <a:pt x="0" y="504314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6A5F2E8-AB14-5FD4-2BBE-7BD2B79CDBC3}"/>
                </a:ext>
              </a:extLst>
            </p:cNvPr>
            <p:cNvSpPr txBox="1"/>
            <p:nvPr/>
          </p:nvSpPr>
          <p:spPr>
            <a:xfrm>
              <a:off x="0" y="-47625"/>
              <a:ext cx="227399" cy="551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33DAE48F-B135-52FE-D2EC-83E90545AB30}"/>
              </a:ext>
            </a:extLst>
          </p:cNvPr>
          <p:cNvGrpSpPr/>
          <p:nvPr/>
        </p:nvGrpSpPr>
        <p:grpSpPr>
          <a:xfrm>
            <a:off x="-1061650" y="8036778"/>
            <a:ext cx="3803190" cy="3803190"/>
            <a:chOff x="0" y="0"/>
            <a:chExt cx="812800" cy="81280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12075BD-B64A-8430-29EC-E8B3EFE6412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5893BC8-6CE3-AC8F-1C4C-8F5AE4F8834C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B3988C24-5D7F-3342-3909-2C196BF203D2}"/>
              </a:ext>
            </a:extLst>
          </p:cNvPr>
          <p:cNvGrpSpPr/>
          <p:nvPr/>
        </p:nvGrpSpPr>
        <p:grpSpPr>
          <a:xfrm>
            <a:off x="0" y="10094695"/>
            <a:ext cx="18264272" cy="192305"/>
            <a:chOff x="0" y="0"/>
            <a:chExt cx="4810343" cy="50648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92A9E44-9CBE-729F-F998-0B188202B304}"/>
                </a:ext>
              </a:extLst>
            </p:cNvPr>
            <p:cNvSpPr/>
            <p:nvPr/>
          </p:nvSpPr>
          <p:spPr>
            <a:xfrm>
              <a:off x="0" y="0"/>
              <a:ext cx="4810343" cy="50648"/>
            </a:xfrm>
            <a:custGeom>
              <a:avLst/>
              <a:gdLst/>
              <a:ahLst/>
              <a:cxnLst/>
              <a:rect l="l" t="t" r="r" b="b"/>
              <a:pathLst>
                <a:path w="4810343" h="50648">
                  <a:moveTo>
                    <a:pt x="0" y="0"/>
                  </a:moveTo>
                  <a:lnTo>
                    <a:pt x="4810343" y="0"/>
                  </a:lnTo>
                  <a:lnTo>
                    <a:pt x="4810343" y="50648"/>
                  </a:lnTo>
                  <a:lnTo>
                    <a:pt x="0" y="50648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33462CC-088C-CBB8-5848-9B05D87A046C}"/>
                </a:ext>
              </a:extLst>
            </p:cNvPr>
            <p:cNvSpPr txBox="1"/>
            <p:nvPr/>
          </p:nvSpPr>
          <p:spPr>
            <a:xfrm>
              <a:off x="0" y="-47625"/>
              <a:ext cx="4810343" cy="98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5" name="TextBox 25">
            <a:extLst>
              <a:ext uri="{FF2B5EF4-FFF2-40B4-BE49-F238E27FC236}">
                <a16:creationId xmlns:a16="http://schemas.microsoft.com/office/drawing/2014/main" id="{49859865-6AE6-E9FA-4065-45C30E4FE55A}"/>
              </a:ext>
            </a:extLst>
          </p:cNvPr>
          <p:cNvSpPr txBox="1"/>
          <p:nvPr/>
        </p:nvSpPr>
        <p:spPr>
          <a:xfrm>
            <a:off x="694537" y="266700"/>
            <a:ext cx="14697863" cy="911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6000" b="1" dirty="0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EXPLORATORY DATA ANALYSIS (EDA)</a:t>
            </a:r>
          </a:p>
        </p:txBody>
      </p:sp>
      <p:grpSp>
        <p:nvGrpSpPr>
          <p:cNvPr id="33" name="Group 33">
            <a:extLst>
              <a:ext uri="{FF2B5EF4-FFF2-40B4-BE49-F238E27FC236}">
                <a16:creationId xmlns:a16="http://schemas.microsoft.com/office/drawing/2014/main" id="{27139F1A-3E22-7FAE-6C0B-4BF19FF213DB}"/>
              </a:ext>
            </a:extLst>
          </p:cNvPr>
          <p:cNvGrpSpPr/>
          <p:nvPr/>
        </p:nvGrpSpPr>
        <p:grpSpPr>
          <a:xfrm>
            <a:off x="15960043" y="775752"/>
            <a:ext cx="715180" cy="715180"/>
            <a:chOff x="0" y="0"/>
            <a:chExt cx="812800" cy="812800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0E42BFF6-466C-FE54-7B5E-F1F0779A26A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17726D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50DFCADD-060A-01A9-CDDB-967090FDBD0F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EAC3C73E-701C-3654-231D-83E439028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781300"/>
            <a:ext cx="6510829" cy="436663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0DFDF81-6DCC-9821-72D6-81525755E2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5"/>
          <a:stretch/>
        </p:blipFill>
        <p:spPr>
          <a:xfrm>
            <a:off x="7235548" y="1696542"/>
            <a:ext cx="10051222" cy="393226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D27618B-B78F-597D-15DE-9E655DF90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5577462"/>
            <a:ext cx="9792549" cy="4366638"/>
          </a:xfrm>
          <a:prstGeom prst="rect">
            <a:avLst/>
          </a:prstGeom>
        </p:spPr>
      </p:pic>
      <p:sp>
        <p:nvSpPr>
          <p:cNvPr id="8" name="TextBox 15">
            <a:extLst>
              <a:ext uri="{FF2B5EF4-FFF2-40B4-BE49-F238E27FC236}">
                <a16:creationId xmlns:a16="http://schemas.microsoft.com/office/drawing/2014/main" id="{54318716-7FD8-261D-3C2C-574BDB744B15}"/>
              </a:ext>
            </a:extLst>
          </p:cNvPr>
          <p:cNvSpPr txBox="1"/>
          <p:nvPr/>
        </p:nvSpPr>
        <p:spPr>
          <a:xfrm>
            <a:off x="693630" y="2075022"/>
            <a:ext cx="2887770" cy="449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4000" b="1" dirty="0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Bar Charts</a:t>
            </a:r>
          </a:p>
        </p:txBody>
      </p:sp>
    </p:spTree>
    <p:extLst>
      <p:ext uri="{BB962C8B-B14F-4D97-AF65-F5344CB8AC3E}">
        <p14:creationId xmlns:p14="http://schemas.microsoft.com/office/powerpoint/2010/main" val="280062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278BD-B306-0C35-BABA-232B3853C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2B61A78-B587-611A-E954-E5A8BF159EA3}"/>
              </a:ext>
            </a:extLst>
          </p:cNvPr>
          <p:cNvGrpSpPr/>
          <p:nvPr/>
        </p:nvGrpSpPr>
        <p:grpSpPr>
          <a:xfrm>
            <a:off x="12634610" y="0"/>
            <a:ext cx="5653390" cy="10287000"/>
            <a:chOff x="0" y="0"/>
            <a:chExt cx="1488959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206127B-F620-7975-B7C8-ABB55FC924F8}"/>
                </a:ext>
              </a:extLst>
            </p:cNvPr>
            <p:cNvSpPr/>
            <p:nvPr/>
          </p:nvSpPr>
          <p:spPr>
            <a:xfrm>
              <a:off x="0" y="0"/>
              <a:ext cx="1488959" cy="2709333"/>
            </a:xfrm>
            <a:custGeom>
              <a:avLst/>
              <a:gdLst/>
              <a:ahLst/>
              <a:cxnLst/>
              <a:rect l="l" t="t" r="r" b="b"/>
              <a:pathLst>
                <a:path w="1488959" h="2709333">
                  <a:moveTo>
                    <a:pt x="0" y="0"/>
                  </a:moveTo>
                  <a:lnTo>
                    <a:pt x="1488959" y="0"/>
                  </a:lnTo>
                  <a:lnTo>
                    <a:pt x="14889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9765C76-835C-E3AC-5BAC-18530B223D5A}"/>
                </a:ext>
              </a:extLst>
            </p:cNvPr>
            <p:cNvSpPr txBox="1"/>
            <p:nvPr/>
          </p:nvSpPr>
          <p:spPr>
            <a:xfrm>
              <a:off x="0" y="-47625"/>
              <a:ext cx="1488959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BB5A16B-C189-2D50-4E7A-95920A879648}"/>
              </a:ext>
            </a:extLst>
          </p:cNvPr>
          <p:cNvGrpSpPr/>
          <p:nvPr/>
        </p:nvGrpSpPr>
        <p:grpSpPr>
          <a:xfrm>
            <a:off x="17400866" y="0"/>
            <a:ext cx="863406" cy="1914819"/>
            <a:chOff x="0" y="0"/>
            <a:chExt cx="227399" cy="504314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003FE06-ECC5-9F11-C1A4-BC3546348562}"/>
                </a:ext>
              </a:extLst>
            </p:cNvPr>
            <p:cNvSpPr/>
            <p:nvPr/>
          </p:nvSpPr>
          <p:spPr>
            <a:xfrm>
              <a:off x="0" y="0"/>
              <a:ext cx="227399" cy="504314"/>
            </a:xfrm>
            <a:custGeom>
              <a:avLst/>
              <a:gdLst/>
              <a:ahLst/>
              <a:cxnLst/>
              <a:rect l="l" t="t" r="r" b="b"/>
              <a:pathLst>
                <a:path w="227399" h="504314">
                  <a:moveTo>
                    <a:pt x="0" y="0"/>
                  </a:moveTo>
                  <a:lnTo>
                    <a:pt x="227399" y="0"/>
                  </a:lnTo>
                  <a:lnTo>
                    <a:pt x="227399" y="504314"/>
                  </a:lnTo>
                  <a:lnTo>
                    <a:pt x="0" y="504314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CB4F8A1-2249-6E55-B25F-BAF4E2E071A8}"/>
                </a:ext>
              </a:extLst>
            </p:cNvPr>
            <p:cNvSpPr txBox="1"/>
            <p:nvPr/>
          </p:nvSpPr>
          <p:spPr>
            <a:xfrm>
              <a:off x="0" y="-47625"/>
              <a:ext cx="227399" cy="551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8A30827-93C9-503C-D1E1-0BFDADFCEEBC}"/>
              </a:ext>
            </a:extLst>
          </p:cNvPr>
          <p:cNvGrpSpPr/>
          <p:nvPr/>
        </p:nvGrpSpPr>
        <p:grpSpPr>
          <a:xfrm>
            <a:off x="-1061650" y="8036778"/>
            <a:ext cx="3803190" cy="3803190"/>
            <a:chOff x="0" y="0"/>
            <a:chExt cx="812800" cy="81280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92FA8B9-10E9-671A-8A4A-73F30B334F8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24AAD0A-034B-39CB-9A32-EDB3C3178358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1FD33F-F548-61A7-6E5D-6B3BFADA419D}"/>
              </a:ext>
            </a:extLst>
          </p:cNvPr>
          <p:cNvGrpSpPr/>
          <p:nvPr/>
        </p:nvGrpSpPr>
        <p:grpSpPr>
          <a:xfrm>
            <a:off x="0" y="10094695"/>
            <a:ext cx="18264272" cy="192305"/>
            <a:chOff x="0" y="0"/>
            <a:chExt cx="4810343" cy="50648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4E9820FE-9198-60A5-34A8-74132720F431}"/>
                </a:ext>
              </a:extLst>
            </p:cNvPr>
            <p:cNvSpPr/>
            <p:nvPr/>
          </p:nvSpPr>
          <p:spPr>
            <a:xfrm>
              <a:off x="0" y="0"/>
              <a:ext cx="4810343" cy="50648"/>
            </a:xfrm>
            <a:custGeom>
              <a:avLst/>
              <a:gdLst/>
              <a:ahLst/>
              <a:cxnLst/>
              <a:rect l="l" t="t" r="r" b="b"/>
              <a:pathLst>
                <a:path w="4810343" h="50648">
                  <a:moveTo>
                    <a:pt x="0" y="0"/>
                  </a:moveTo>
                  <a:lnTo>
                    <a:pt x="4810343" y="0"/>
                  </a:lnTo>
                  <a:lnTo>
                    <a:pt x="4810343" y="50648"/>
                  </a:lnTo>
                  <a:lnTo>
                    <a:pt x="0" y="50648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A42BB05B-4AE3-7E32-F71F-C14C657289F7}"/>
                </a:ext>
              </a:extLst>
            </p:cNvPr>
            <p:cNvSpPr txBox="1"/>
            <p:nvPr/>
          </p:nvSpPr>
          <p:spPr>
            <a:xfrm>
              <a:off x="0" y="-47625"/>
              <a:ext cx="4810343" cy="98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5" name="TextBox 25">
            <a:extLst>
              <a:ext uri="{FF2B5EF4-FFF2-40B4-BE49-F238E27FC236}">
                <a16:creationId xmlns:a16="http://schemas.microsoft.com/office/drawing/2014/main" id="{3F075680-62C4-9199-06B4-181E39E5883B}"/>
              </a:ext>
            </a:extLst>
          </p:cNvPr>
          <p:cNvSpPr txBox="1"/>
          <p:nvPr/>
        </p:nvSpPr>
        <p:spPr>
          <a:xfrm>
            <a:off x="694537" y="266700"/>
            <a:ext cx="14774063" cy="911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6000" b="1" dirty="0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EXPLORATORY DATA ANALYSIS (EDA)</a:t>
            </a:r>
          </a:p>
        </p:txBody>
      </p:sp>
      <p:grpSp>
        <p:nvGrpSpPr>
          <p:cNvPr id="33" name="Group 33">
            <a:extLst>
              <a:ext uri="{FF2B5EF4-FFF2-40B4-BE49-F238E27FC236}">
                <a16:creationId xmlns:a16="http://schemas.microsoft.com/office/drawing/2014/main" id="{08460CA3-6708-598D-7898-55436BE37701}"/>
              </a:ext>
            </a:extLst>
          </p:cNvPr>
          <p:cNvGrpSpPr/>
          <p:nvPr/>
        </p:nvGrpSpPr>
        <p:grpSpPr>
          <a:xfrm>
            <a:off x="15960043" y="775752"/>
            <a:ext cx="715180" cy="715180"/>
            <a:chOff x="0" y="0"/>
            <a:chExt cx="812800" cy="812800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C879E337-9BFB-8CDE-B389-32C7FE7ADF2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17726D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2116072B-08B7-7445-F984-D3A67963410D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F14CD51C-016C-F5A1-FB15-E81BBEBD5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600" y="2181519"/>
            <a:ext cx="7254869" cy="499153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CE46EE4-AE23-1C4F-D579-C638C6A1D5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5"/>
          <a:stretch/>
        </p:blipFill>
        <p:spPr>
          <a:xfrm>
            <a:off x="381000" y="2936700"/>
            <a:ext cx="9864339" cy="2700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C762685-2015-7891-B97D-636BC266DB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28" t="4368" r="8849" b="-1"/>
          <a:stretch/>
        </p:blipFill>
        <p:spPr>
          <a:xfrm>
            <a:off x="381000" y="6137100"/>
            <a:ext cx="9812329" cy="2664000"/>
          </a:xfrm>
          <a:prstGeom prst="rect">
            <a:avLst/>
          </a:prstGeom>
        </p:spPr>
      </p:pic>
      <p:sp>
        <p:nvSpPr>
          <p:cNvPr id="5" name="TextBox 15">
            <a:extLst>
              <a:ext uri="{FF2B5EF4-FFF2-40B4-BE49-F238E27FC236}">
                <a16:creationId xmlns:a16="http://schemas.microsoft.com/office/drawing/2014/main" id="{030FA9AF-E687-C69D-D7CC-734EFAB26967}"/>
              </a:ext>
            </a:extLst>
          </p:cNvPr>
          <p:cNvSpPr txBox="1"/>
          <p:nvPr/>
        </p:nvSpPr>
        <p:spPr>
          <a:xfrm>
            <a:off x="693630" y="1943100"/>
            <a:ext cx="2887770" cy="449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4000" b="1" dirty="0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Pie Charts</a:t>
            </a:r>
          </a:p>
        </p:txBody>
      </p:sp>
    </p:spTree>
    <p:extLst>
      <p:ext uri="{BB962C8B-B14F-4D97-AF65-F5344CB8AC3E}">
        <p14:creationId xmlns:p14="http://schemas.microsoft.com/office/powerpoint/2010/main" val="1281331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C2369-AC87-4F38-402B-E85F50E86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A3BD565-9C3E-B28B-60A7-CB03C14EDE11}"/>
              </a:ext>
            </a:extLst>
          </p:cNvPr>
          <p:cNvGrpSpPr/>
          <p:nvPr/>
        </p:nvGrpSpPr>
        <p:grpSpPr>
          <a:xfrm>
            <a:off x="12634610" y="0"/>
            <a:ext cx="5653390" cy="10287000"/>
            <a:chOff x="0" y="0"/>
            <a:chExt cx="1488959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53772B0-0756-24A6-DF31-303BA92A335F}"/>
                </a:ext>
              </a:extLst>
            </p:cNvPr>
            <p:cNvSpPr/>
            <p:nvPr/>
          </p:nvSpPr>
          <p:spPr>
            <a:xfrm>
              <a:off x="0" y="0"/>
              <a:ext cx="1488959" cy="2709333"/>
            </a:xfrm>
            <a:custGeom>
              <a:avLst/>
              <a:gdLst/>
              <a:ahLst/>
              <a:cxnLst/>
              <a:rect l="l" t="t" r="r" b="b"/>
              <a:pathLst>
                <a:path w="1488959" h="2709333">
                  <a:moveTo>
                    <a:pt x="0" y="0"/>
                  </a:moveTo>
                  <a:lnTo>
                    <a:pt x="1488959" y="0"/>
                  </a:lnTo>
                  <a:lnTo>
                    <a:pt x="14889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332E7BD-1213-8983-04F9-82FB46D5D4F6}"/>
                </a:ext>
              </a:extLst>
            </p:cNvPr>
            <p:cNvSpPr txBox="1"/>
            <p:nvPr/>
          </p:nvSpPr>
          <p:spPr>
            <a:xfrm>
              <a:off x="0" y="-47625"/>
              <a:ext cx="1488959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C89E2BB-BBD6-1557-751B-0D0B25E23B58}"/>
              </a:ext>
            </a:extLst>
          </p:cNvPr>
          <p:cNvGrpSpPr/>
          <p:nvPr/>
        </p:nvGrpSpPr>
        <p:grpSpPr>
          <a:xfrm>
            <a:off x="17400866" y="0"/>
            <a:ext cx="863406" cy="1914819"/>
            <a:chOff x="0" y="0"/>
            <a:chExt cx="227399" cy="504314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EC5A79A1-6253-64A8-3CDB-4C9B286AC03B}"/>
                </a:ext>
              </a:extLst>
            </p:cNvPr>
            <p:cNvSpPr/>
            <p:nvPr/>
          </p:nvSpPr>
          <p:spPr>
            <a:xfrm>
              <a:off x="0" y="0"/>
              <a:ext cx="227399" cy="504314"/>
            </a:xfrm>
            <a:custGeom>
              <a:avLst/>
              <a:gdLst/>
              <a:ahLst/>
              <a:cxnLst/>
              <a:rect l="l" t="t" r="r" b="b"/>
              <a:pathLst>
                <a:path w="227399" h="504314">
                  <a:moveTo>
                    <a:pt x="0" y="0"/>
                  </a:moveTo>
                  <a:lnTo>
                    <a:pt x="227399" y="0"/>
                  </a:lnTo>
                  <a:lnTo>
                    <a:pt x="227399" y="504314"/>
                  </a:lnTo>
                  <a:lnTo>
                    <a:pt x="0" y="504314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3B96220-BC7B-9F94-17DF-67F9C85385EA}"/>
                </a:ext>
              </a:extLst>
            </p:cNvPr>
            <p:cNvSpPr txBox="1"/>
            <p:nvPr/>
          </p:nvSpPr>
          <p:spPr>
            <a:xfrm>
              <a:off x="0" y="-47625"/>
              <a:ext cx="227399" cy="551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44ACAB5-14A7-45C2-4543-F01AAD9DF400}"/>
              </a:ext>
            </a:extLst>
          </p:cNvPr>
          <p:cNvGrpSpPr/>
          <p:nvPr/>
        </p:nvGrpSpPr>
        <p:grpSpPr>
          <a:xfrm>
            <a:off x="-1061650" y="8036778"/>
            <a:ext cx="3803190" cy="3803190"/>
            <a:chOff x="0" y="0"/>
            <a:chExt cx="812800" cy="81280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416EBE8-D882-7283-CB11-BD67F962E7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3281B4B-D4D6-9D75-AA51-D24F969928E7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EC3F50B-0552-8145-0533-0962B8F93F1F}"/>
              </a:ext>
            </a:extLst>
          </p:cNvPr>
          <p:cNvGrpSpPr/>
          <p:nvPr/>
        </p:nvGrpSpPr>
        <p:grpSpPr>
          <a:xfrm>
            <a:off x="0" y="10094695"/>
            <a:ext cx="18264272" cy="192305"/>
            <a:chOff x="0" y="0"/>
            <a:chExt cx="4810343" cy="50648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4834148-3F22-7FD5-DAD3-35F1CA88C626}"/>
                </a:ext>
              </a:extLst>
            </p:cNvPr>
            <p:cNvSpPr/>
            <p:nvPr/>
          </p:nvSpPr>
          <p:spPr>
            <a:xfrm>
              <a:off x="0" y="0"/>
              <a:ext cx="4810343" cy="50648"/>
            </a:xfrm>
            <a:custGeom>
              <a:avLst/>
              <a:gdLst/>
              <a:ahLst/>
              <a:cxnLst/>
              <a:rect l="l" t="t" r="r" b="b"/>
              <a:pathLst>
                <a:path w="4810343" h="50648">
                  <a:moveTo>
                    <a:pt x="0" y="0"/>
                  </a:moveTo>
                  <a:lnTo>
                    <a:pt x="4810343" y="0"/>
                  </a:lnTo>
                  <a:lnTo>
                    <a:pt x="4810343" y="50648"/>
                  </a:lnTo>
                  <a:lnTo>
                    <a:pt x="0" y="50648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A9D4F365-E162-5C14-08DD-4A590463D1AA}"/>
                </a:ext>
              </a:extLst>
            </p:cNvPr>
            <p:cNvSpPr txBox="1"/>
            <p:nvPr/>
          </p:nvSpPr>
          <p:spPr>
            <a:xfrm>
              <a:off x="0" y="-47625"/>
              <a:ext cx="4810343" cy="98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5" name="TextBox 25">
            <a:extLst>
              <a:ext uri="{FF2B5EF4-FFF2-40B4-BE49-F238E27FC236}">
                <a16:creationId xmlns:a16="http://schemas.microsoft.com/office/drawing/2014/main" id="{21EAE92E-AAC7-1BCF-4840-1853E5B033EE}"/>
              </a:ext>
            </a:extLst>
          </p:cNvPr>
          <p:cNvSpPr txBox="1"/>
          <p:nvPr/>
        </p:nvSpPr>
        <p:spPr>
          <a:xfrm>
            <a:off x="694537" y="353346"/>
            <a:ext cx="16221863" cy="911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6000" b="1" dirty="0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EXPLORATORY DATA ANALYSIS (EDA)</a:t>
            </a:r>
          </a:p>
        </p:txBody>
      </p:sp>
      <p:grpSp>
        <p:nvGrpSpPr>
          <p:cNvPr id="33" name="Group 33">
            <a:extLst>
              <a:ext uri="{FF2B5EF4-FFF2-40B4-BE49-F238E27FC236}">
                <a16:creationId xmlns:a16="http://schemas.microsoft.com/office/drawing/2014/main" id="{9F153CFD-1F7E-0A1B-0EB4-8D46D554F949}"/>
              </a:ext>
            </a:extLst>
          </p:cNvPr>
          <p:cNvGrpSpPr/>
          <p:nvPr/>
        </p:nvGrpSpPr>
        <p:grpSpPr>
          <a:xfrm>
            <a:off x="15960043" y="775752"/>
            <a:ext cx="715180" cy="715180"/>
            <a:chOff x="0" y="0"/>
            <a:chExt cx="812800" cy="812800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547437E2-0FF2-507C-4B7E-A8D41A39FF1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17726D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6EB20B0F-A2DA-864F-6741-E6CCCB57B66A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F76750F-EE42-37E3-BA04-0B8664CEE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29" y="2358854"/>
            <a:ext cx="9356271" cy="226609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8EAFA7E-D99D-7CA3-74FC-6BB397B93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44" y="5963675"/>
            <a:ext cx="11504714" cy="283742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ADC2341-54AC-7004-039B-6EF6D48B9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9374" y="2095500"/>
            <a:ext cx="3372826" cy="5869725"/>
          </a:xfrm>
          <a:prstGeom prst="rect">
            <a:avLst/>
          </a:prstGeom>
        </p:spPr>
      </p:pic>
      <p:sp>
        <p:nvSpPr>
          <p:cNvPr id="39" name="TextBox 30">
            <a:extLst>
              <a:ext uri="{FF2B5EF4-FFF2-40B4-BE49-F238E27FC236}">
                <a16:creationId xmlns:a16="http://schemas.microsoft.com/office/drawing/2014/main" id="{1AD40CCA-F412-A45E-3755-1E945AC518CB}"/>
              </a:ext>
            </a:extLst>
          </p:cNvPr>
          <p:cNvSpPr txBox="1"/>
          <p:nvPr/>
        </p:nvSpPr>
        <p:spPr>
          <a:xfrm>
            <a:off x="462643" y="4690899"/>
            <a:ext cx="11275855" cy="909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Penggunaan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mapping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ditujukan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untuk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merubah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format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variabel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tipe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objek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menjadi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integer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sehingga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nantinya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memudahkan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analisis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model.</a:t>
            </a:r>
          </a:p>
        </p:txBody>
      </p:sp>
      <p:sp>
        <p:nvSpPr>
          <p:cNvPr id="40" name="TextBox 30">
            <a:extLst>
              <a:ext uri="{FF2B5EF4-FFF2-40B4-BE49-F238E27FC236}">
                <a16:creationId xmlns:a16="http://schemas.microsoft.com/office/drawing/2014/main" id="{2B867325-B814-014B-1CFC-3F589CDC6C13}"/>
              </a:ext>
            </a:extLst>
          </p:cNvPr>
          <p:cNvSpPr txBox="1"/>
          <p:nvPr/>
        </p:nvSpPr>
        <p:spPr>
          <a:xfrm>
            <a:off x="679297" y="8964704"/>
            <a:ext cx="11955313" cy="903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Analisis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deskriptif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mencakup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informasi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nilai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mean,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standar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deviasi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nilai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min. dan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maks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., dan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nilai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modus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tiap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variabel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41" name="TextBox 30">
            <a:extLst>
              <a:ext uri="{FF2B5EF4-FFF2-40B4-BE49-F238E27FC236}">
                <a16:creationId xmlns:a16="http://schemas.microsoft.com/office/drawing/2014/main" id="{AE1A3AE2-64DC-DB88-0D46-02DD6D1E4AB8}"/>
              </a:ext>
            </a:extLst>
          </p:cNvPr>
          <p:cNvSpPr txBox="1"/>
          <p:nvPr/>
        </p:nvSpPr>
        <p:spPr>
          <a:xfrm>
            <a:off x="14150568" y="8330924"/>
            <a:ext cx="3372826" cy="1377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Mencari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missing value agar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menghindari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bias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dalam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analisis</a:t>
            </a:r>
            <a:endParaRPr lang="en-US" sz="22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2B4D6104-B849-6EE8-327A-D981B6AB14B2}"/>
              </a:ext>
            </a:extLst>
          </p:cNvPr>
          <p:cNvSpPr txBox="1"/>
          <p:nvPr/>
        </p:nvSpPr>
        <p:spPr>
          <a:xfrm>
            <a:off x="762000" y="1659483"/>
            <a:ext cx="9243172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3000" b="1" dirty="0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Mapping, </a:t>
            </a:r>
            <a:r>
              <a:rPr lang="en-US" sz="3000" b="1" dirty="0" err="1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deskripsi</a:t>
            </a:r>
            <a:r>
              <a:rPr lang="en-US" sz="3000" b="1" dirty="0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 data, dan missing value</a:t>
            </a:r>
          </a:p>
        </p:txBody>
      </p:sp>
    </p:spTree>
    <p:extLst>
      <p:ext uri="{BB962C8B-B14F-4D97-AF65-F5344CB8AC3E}">
        <p14:creationId xmlns:p14="http://schemas.microsoft.com/office/powerpoint/2010/main" val="2388292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8614" y="0"/>
            <a:ext cx="7799121" cy="6275956"/>
            <a:chOff x="0" y="0"/>
            <a:chExt cx="2054089" cy="16529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4089" cy="1652927"/>
            </a:xfrm>
            <a:custGeom>
              <a:avLst/>
              <a:gdLst/>
              <a:ahLst/>
              <a:cxnLst/>
              <a:rect l="l" t="t" r="r" b="b"/>
              <a:pathLst>
                <a:path w="2054089" h="1652927">
                  <a:moveTo>
                    <a:pt x="0" y="0"/>
                  </a:moveTo>
                  <a:lnTo>
                    <a:pt x="2054089" y="0"/>
                  </a:lnTo>
                  <a:lnTo>
                    <a:pt x="2054089" y="1652927"/>
                  </a:lnTo>
                  <a:lnTo>
                    <a:pt x="0" y="1652927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54089" cy="1700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790247"/>
            <a:ext cx="778614" cy="1496753"/>
            <a:chOff x="0" y="0"/>
            <a:chExt cx="205067" cy="3942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5067" cy="394207"/>
            </a:xfrm>
            <a:custGeom>
              <a:avLst/>
              <a:gdLst/>
              <a:ahLst/>
              <a:cxnLst/>
              <a:rect l="l" t="t" r="r" b="b"/>
              <a:pathLst>
                <a:path w="205067" h="394207">
                  <a:moveTo>
                    <a:pt x="0" y="0"/>
                  </a:moveTo>
                  <a:lnTo>
                    <a:pt x="205067" y="0"/>
                  </a:lnTo>
                  <a:lnTo>
                    <a:pt x="205067" y="394207"/>
                  </a:lnTo>
                  <a:lnTo>
                    <a:pt x="0" y="394207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05067" cy="441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1359021" y="1638300"/>
            <a:ext cx="1858299" cy="0"/>
          </a:xfrm>
          <a:prstGeom prst="line">
            <a:avLst/>
          </a:prstGeom>
          <a:ln w="76200" cap="flat">
            <a:solidFill>
              <a:srgbClr val="EAE4D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grpSp>
        <p:nvGrpSpPr>
          <p:cNvPr id="15" name="Group 15"/>
          <p:cNvGrpSpPr/>
          <p:nvPr/>
        </p:nvGrpSpPr>
        <p:grpSpPr>
          <a:xfrm>
            <a:off x="8710340" y="3314700"/>
            <a:ext cx="648000" cy="68400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2B08F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59021" y="324144"/>
            <a:ext cx="6543494" cy="91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6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SPLIT DATA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22619" y="2247850"/>
            <a:ext cx="6533969" cy="3015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10"/>
              </a:lnSpc>
            </a:pP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Penggunaan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SMOTE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ditujukan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ketika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terjadi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ketidakseimbangan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pada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nilai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SMOTE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akan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mencegah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terjadinya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bias pada model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karena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akan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cenderung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selalu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belajar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mayoritas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Akhibatnya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model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sebenarnya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gagal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mengenali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minoritas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meski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menghasilkan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nilai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akurasi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sz="22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tinggi</a:t>
            </a:r>
            <a:r>
              <a:rPr lang="en-US" sz="22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10267" y="3162300"/>
            <a:ext cx="8349133" cy="768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080"/>
              </a:lnSpc>
            </a:pP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Membagi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data X dan y di mana y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adalah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/target.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Kemudian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membagi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menjadi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2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yakni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latih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dan data uji.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5357705" y="7637029"/>
            <a:ext cx="4136867" cy="4136867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4EA326A2-0A90-B634-3031-6E00DB937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1318049"/>
            <a:ext cx="9088083" cy="146325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01E0E7C-D5C0-8AFD-0D13-301E3D7D0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07" y="5885948"/>
            <a:ext cx="8268293" cy="421055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C85E191-4388-C5DB-7671-B36783ED1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1604" y="4267201"/>
            <a:ext cx="5499289" cy="5830376"/>
          </a:xfrm>
          <a:prstGeom prst="rect">
            <a:avLst/>
          </a:prstGeom>
        </p:spPr>
      </p:pic>
      <p:sp>
        <p:nvSpPr>
          <p:cNvPr id="36" name="TextBox 24">
            <a:extLst>
              <a:ext uri="{FF2B5EF4-FFF2-40B4-BE49-F238E27FC236}">
                <a16:creationId xmlns:a16="http://schemas.microsoft.com/office/drawing/2014/main" id="{E4F91E75-6CE4-764E-A982-55F007F4132C}"/>
              </a:ext>
            </a:extLst>
          </p:cNvPr>
          <p:cNvSpPr txBox="1"/>
          <p:nvPr/>
        </p:nvSpPr>
        <p:spPr>
          <a:xfrm>
            <a:off x="9261244" y="7873316"/>
            <a:ext cx="2895600" cy="1166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080"/>
              </a:lnSpc>
            </a:pP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Terjadi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ketidakseimbangan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nilai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2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/target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381000" y="342900"/>
            <a:ext cx="7696200" cy="476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ts val="3359"/>
              </a:lnSpc>
            </a:pPr>
            <a:r>
              <a:rPr lang="en-US" sz="4500" b="1" spc="177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ANALISIS MODEL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391400" y="0"/>
            <a:ext cx="10896600" cy="10287000"/>
            <a:chOff x="0" y="0"/>
            <a:chExt cx="2783788" cy="2709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83788" cy="2709333"/>
            </a:xfrm>
            <a:custGeom>
              <a:avLst/>
              <a:gdLst/>
              <a:ahLst/>
              <a:cxnLst/>
              <a:rect l="l" t="t" r="r" b="b"/>
              <a:pathLst>
                <a:path w="2783788" h="2709333">
                  <a:moveTo>
                    <a:pt x="0" y="0"/>
                  </a:moveTo>
                  <a:lnTo>
                    <a:pt x="2783788" y="0"/>
                  </a:lnTo>
                  <a:lnTo>
                    <a:pt x="278378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78378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85555" y="1290413"/>
            <a:ext cx="4495800" cy="455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b="1" dirty="0">
                <a:solidFill>
                  <a:schemeClr val="bg2">
                    <a:lumMod val="50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Logistic Regression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57200" y="1028700"/>
            <a:ext cx="877649" cy="877649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21"/>
            <p:cNvSpPr txBox="1">
              <a:spLocks noChangeAspect="1"/>
            </p:cNvSpPr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dirty="0">
                  <a:solidFill>
                    <a:srgbClr val="17726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848600" y="7581900"/>
            <a:ext cx="10234246" cy="2320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Akurasi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= 74,68%</a:t>
            </a:r>
          </a:p>
          <a:p>
            <a:pPr marL="0" lvl="0" indent="0" algn="just">
              <a:lnSpc>
                <a:spcPts val="3720"/>
              </a:lnSpc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True Negative (TN) = 5259; model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0 dan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benar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0.</a:t>
            </a:r>
          </a:p>
          <a:p>
            <a:pPr marL="0" lvl="0" indent="0" algn="just">
              <a:lnSpc>
                <a:spcPts val="3720"/>
              </a:lnSpc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False Negative (FN) = 538; model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0,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tetapi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1.</a:t>
            </a:r>
          </a:p>
          <a:p>
            <a:pPr marL="0" lvl="0" indent="0" algn="just">
              <a:lnSpc>
                <a:spcPts val="3720"/>
              </a:lnSpc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False Positive (FP) = 1741; Model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1,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tetapi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0.</a:t>
            </a:r>
          </a:p>
          <a:p>
            <a:pPr marL="0" lvl="0" indent="0" algn="just">
              <a:lnSpc>
                <a:spcPts val="3720"/>
              </a:lnSpc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True Positive (TP) = 1462; model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1 dan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benar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1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FD2F255-B3BA-15AD-562C-CCFB15F1F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324100"/>
            <a:ext cx="6372970" cy="32004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2E12C2C-ED52-ECE6-EC3F-39FE51310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981700"/>
            <a:ext cx="6536987" cy="2438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DB7249-CC74-885E-5DC5-9639A5078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839" y="342900"/>
            <a:ext cx="6172361" cy="687242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4258969-83EA-4692-D3B0-A71D8A093361}"/>
              </a:ext>
            </a:extLst>
          </p:cNvPr>
          <p:cNvCxnSpPr>
            <a:cxnSpLocks/>
          </p:cNvCxnSpPr>
          <p:nvPr/>
        </p:nvCxnSpPr>
        <p:spPr>
          <a:xfrm>
            <a:off x="13258800" y="1803222"/>
            <a:ext cx="2212848" cy="0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A0C7F0-D002-98FF-894D-4153DB323D22}"/>
              </a:ext>
            </a:extLst>
          </p:cNvPr>
          <p:cNvCxnSpPr>
            <a:cxnSpLocks/>
          </p:cNvCxnSpPr>
          <p:nvPr/>
        </p:nvCxnSpPr>
        <p:spPr>
          <a:xfrm>
            <a:off x="14324970" y="5053087"/>
            <a:ext cx="1511405" cy="0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50EC46A-F67C-72EA-9CDB-7AF2CC9E08D4}"/>
              </a:ext>
            </a:extLst>
          </p:cNvPr>
          <p:cNvSpPr txBox="1"/>
          <p:nvPr/>
        </p:nvSpPr>
        <p:spPr>
          <a:xfrm>
            <a:off x="15544800" y="1462744"/>
            <a:ext cx="24384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Classification report</a:t>
            </a:r>
            <a:endParaRPr lang="en-US" sz="18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002A37-1799-5655-3472-5ED7D02783A4}"/>
              </a:ext>
            </a:extLst>
          </p:cNvPr>
          <p:cNvSpPr txBox="1"/>
          <p:nvPr/>
        </p:nvSpPr>
        <p:spPr>
          <a:xfrm>
            <a:off x="16025553" y="4711869"/>
            <a:ext cx="24384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Confusion Matrix</a:t>
            </a:r>
            <a:endParaRPr lang="en-US" sz="18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510867" y="457494"/>
            <a:ext cx="9777133" cy="1495425"/>
            <a:chOff x="0" y="0"/>
            <a:chExt cx="2575047" cy="3938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75047" cy="393857"/>
            </a:xfrm>
            <a:custGeom>
              <a:avLst/>
              <a:gdLst/>
              <a:ahLst/>
              <a:cxnLst/>
              <a:rect l="l" t="t" r="r" b="b"/>
              <a:pathLst>
                <a:path w="2575047" h="393857">
                  <a:moveTo>
                    <a:pt x="0" y="0"/>
                  </a:moveTo>
                  <a:lnTo>
                    <a:pt x="2575047" y="0"/>
                  </a:lnTo>
                  <a:lnTo>
                    <a:pt x="2575047" y="393857"/>
                  </a:lnTo>
                  <a:lnTo>
                    <a:pt x="0" y="393857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575047" cy="441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516967" y="6210300"/>
            <a:ext cx="4384608" cy="4384608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23A8F5DB-A440-B644-A8BC-ADFFBD811D0B}"/>
              </a:ext>
            </a:extLst>
          </p:cNvPr>
          <p:cNvSpPr txBox="1"/>
          <p:nvPr/>
        </p:nvSpPr>
        <p:spPr>
          <a:xfrm>
            <a:off x="9982200" y="951629"/>
            <a:ext cx="4495800" cy="455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Decision Tree</a:t>
            </a:r>
          </a:p>
        </p:txBody>
      </p:sp>
      <p:grpSp>
        <p:nvGrpSpPr>
          <p:cNvPr id="18" name="Group 19">
            <a:extLst>
              <a:ext uri="{FF2B5EF4-FFF2-40B4-BE49-F238E27FC236}">
                <a16:creationId xmlns:a16="http://schemas.microsoft.com/office/drawing/2014/main" id="{70DEB06D-BA26-E054-6950-70F439CB99E6}"/>
              </a:ext>
            </a:extLst>
          </p:cNvPr>
          <p:cNvGrpSpPr/>
          <p:nvPr/>
        </p:nvGrpSpPr>
        <p:grpSpPr>
          <a:xfrm>
            <a:off x="8853845" y="689916"/>
            <a:ext cx="877649" cy="877649"/>
            <a:chOff x="0" y="0"/>
            <a:chExt cx="812800" cy="812800"/>
          </a:xfrm>
        </p:grpSpPr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B6D71396-3864-8915-903C-D7A261C4A5D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0" name="TextBox 21">
              <a:extLst>
                <a:ext uri="{FF2B5EF4-FFF2-40B4-BE49-F238E27FC236}">
                  <a16:creationId xmlns:a16="http://schemas.microsoft.com/office/drawing/2014/main" id="{D6B73C15-251F-92CC-E6BB-CC2C576EAA6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dirty="0">
                  <a:solidFill>
                    <a:srgbClr val="17726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8D68DD0-5F89-389A-29E9-48682EAB4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1145" y="2347156"/>
            <a:ext cx="7439655" cy="18648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7965B3-C055-F78B-A5DC-F23B2B694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7265" y="4851264"/>
            <a:ext cx="7233535" cy="26006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F09767-2B28-ACD8-F4B3-3F8F6B7B4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2" y="534986"/>
            <a:ext cx="5809798" cy="6742114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16" name="TextBox 23">
            <a:extLst>
              <a:ext uri="{FF2B5EF4-FFF2-40B4-BE49-F238E27FC236}">
                <a16:creationId xmlns:a16="http://schemas.microsoft.com/office/drawing/2014/main" id="{79839DC3-F3E8-8336-C529-A607EE6C7ECA}"/>
              </a:ext>
            </a:extLst>
          </p:cNvPr>
          <p:cNvSpPr txBox="1"/>
          <p:nvPr/>
        </p:nvSpPr>
        <p:spPr>
          <a:xfrm>
            <a:off x="457200" y="7547841"/>
            <a:ext cx="10234246" cy="2320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Akurasi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= 74,68%</a:t>
            </a:r>
          </a:p>
          <a:p>
            <a:pPr marL="0" lvl="0" indent="0" algn="just">
              <a:lnSpc>
                <a:spcPts val="3720"/>
              </a:lnSpc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True Negative (TN) = 5259; model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0 dan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benar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0.</a:t>
            </a:r>
          </a:p>
          <a:p>
            <a:pPr marL="0" lvl="0" indent="0" algn="just">
              <a:lnSpc>
                <a:spcPts val="3720"/>
              </a:lnSpc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False Negative (FN) = 538; model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0,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tetapi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1.</a:t>
            </a:r>
          </a:p>
          <a:p>
            <a:pPr marL="0" lvl="0" indent="0" algn="just">
              <a:lnSpc>
                <a:spcPts val="3720"/>
              </a:lnSpc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False Positive (FP) = 1741; Model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1,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tetapi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0.</a:t>
            </a:r>
          </a:p>
          <a:p>
            <a:pPr marL="0" lvl="0" indent="0" algn="just">
              <a:lnSpc>
                <a:spcPts val="3720"/>
              </a:lnSpc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True Positive (TP) = 1462; model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1 dan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benar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C3B9C9-F310-2A87-0E01-F7827D8ED023}"/>
              </a:ext>
            </a:extLst>
          </p:cNvPr>
          <p:cNvSpPr txBox="1"/>
          <p:nvPr/>
        </p:nvSpPr>
        <p:spPr>
          <a:xfrm>
            <a:off x="6500533" y="1948842"/>
            <a:ext cx="2110067" cy="98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Classification report</a:t>
            </a:r>
            <a:endParaRPr lang="en-US"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F2F674-640B-7970-AE9B-77DCB168E924}"/>
              </a:ext>
            </a:extLst>
          </p:cNvPr>
          <p:cNvSpPr txBox="1"/>
          <p:nvPr/>
        </p:nvSpPr>
        <p:spPr>
          <a:xfrm>
            <a:off x="6553200" y="5538718"/>
            <a:ext cx="24384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Confusion Matrix</a:t>
            </a:r>
            <a:endParaRPr lang="en-US"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D90019E-C0DE-2FE8-8262-B335A701FB35}"/>
              </a:ext>
            </a:extLst>
          </p:cNvPr>
          <p:cNvCxnSpPr>
            <a:cxnSpLocks/>
          </p:cNvCxnSpPr>
          <p:nvPr/>
        </p:nvCxnSpPr>
        <p:spPr>
          <a:xfrm>
            <a:off x="6248400" y="4925211"/>
            <a:ext cx="1600200" cy="523089"/>
          </a:xfrm>
          <a:prstGeom prst="bentConnector3">
            <a:avLst>
              <a:gd name="adj1" fmla="val 98980"/>
            </a:avLst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3E3D995-E0F9-01DA-9EF6-CCCFB8030936}"/>
              </a:ext>
            </a:extLst>
          </p:cNvPr>
          <p:cNvCxnSpPr>
            <a:cxnSpLocks/>
          </p:cNvCxnSpPr>
          <p:nvPr/>
        </p:nvCxnSpPr>
        <p:spPr>
          <a:xfrm>
            <a:off x="6115494" y="1447505"/>
            <a:ext cx="1322479" cy="523089"/>
          </a:xfrm>
          <a:prstGeom prst="bentConnector3">
            <a:avLst>
              <a:gd name="adj1" fmla="val 98980"/>
            </a:avLst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04010"/>
            <a:chOff x="0" y="0"/>
            <a:chExt cx="4816593" cy="775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775678"/>
            </a:xfrm>
            <a:custGeom>
              <a:avLst/>
              <a:gdLst/>
              <a:ahLst/>
              <a:cxnLst/>
              <a:rect l="l" t="t" r="r" b="b"/>
              <a:pathLst>
                <a:path w="4816592" h="775678">
                  <a:moveTo>
                    <a:pt x="0" y="0"/>
                  </a:moveTo>
                  <a:lnTo>
                    <a:pt x="4816592" y="0"/>
                  </a:lnTo>
                  <a:lnTo>
                    <a:pt x="4816592" y="775678"/>
                  </a:lnTo>
                  <a:lnTo>
                    <a:pt x="0" y="775678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823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5745226" y="-1332365"/>
            <a:ext cx="3685774" cy="368577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EAE4D2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092370" y="4698983"/>
            <a:ext cx="9341973" cy="4234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3720"/>
              </a:lnSpc>
            </a:pP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Akurasi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= 74,33%</a:t>
            </a:r>
          </a:p>
          <a:p>
            <a:pPr marL="0" lvl="0" indent="0">
              <a:lnSpc>
                <a:spcPts val="3720"/>
              </a:lnSpc>
            </a:pP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True Negative (TN) = 5435; model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0 dan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benar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0.</a:t>
            </a:r>
          </a:p>
          <a:p>
            <a:pPr marL="0" lvl="0" indent="0">
              <a:lnSpc>
                <a:spcPts val="3720"/>
              </a:lnSpc>
            </a:pP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False Negative (FN) = 745; model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0,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tetapi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1.</a:t>
            </a:r>
          </a:p>
          <a:p>
            <a:pPr marL="0" lvl="0" indent="0">
              <a:lnSpc>
                <a:spcPts val="3720"/>
              </a:lnSpc>
            </a:pP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False Positive (FP) = 1565; Model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1,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tetapi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0.</a:t>
            </a:r>
          </a:p>
          <a:p>
            <a:pPr marL="0" lvl="0" indent="0">
              <a:lnSpc>
                <a:spcPts val="3720"/>
              </a:lnSpc>
            </a:pP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True Positive (TP) = 1255; model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1 dan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benar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500" dirty="0" err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500" dirty="0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1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DC5A3EB8-5B89-0376-892D-20F31CEF600F}"/>
              </a:ext>
            </a:extLst>
          </p:cNvPr>
          <p:cNvSpPr txBox="1"/>
          <p:nvPr/>
        </p:nvSpPr>
        <p:spPr>
          <a:xfrm>
            <a:off x="1600200" y="466428"/>
            <a:ext cx="4495800" cy="943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Support Vector Machine</a:t>
            </a:r>
          </a:p>
        </p:txBody>
      </p:sp>
      <p:grpSp>
        <p:nvGrpSpPr>
          <p:cNvPr id="15" name="Group 19">
            <a:extLst>
              <a:ext uri="{FF2B5EF4-FFF2-40B4-BE49-F238E27FC236}">
                <a16:creationId xmlns:a16="http://schemas.microsoft.com/office/drawing/2014/main" id="{FBBB2EF4-6513-334D-A5ED-597EA9919A36}"/>
              </a:ext>
            </a:extLst>
          </p:cNvPr>
          <p:cNvGrpSpPr/>
          <p:nvPr/>
        </p:nvGrpSpPr>
        <p:grpSpPr>
          <a:xfrm>
            <a:off x="471845" y="419100"/>
            <a:ext cx="877649" cy="877649"/>
            <a:chOff x="0" y="0"/>
            <a:chExt cx="812800" cy="812800"/>
          </a:xfrm>
        </p:grpSpPr>
        <p:sp>
          <p:nvSpPr>
            <p:cNvPr id="16" name="Freeform 20">
              <a:extLst>
                <a:ext uri="{FF2B5EF4-FFF2-40B4-BE49-F238E27FC236}">
                  <a16:creationId xmlns:a16="http://schemas.microsoft.com/office/drawing/2014/main" id="{250109ED-2B82-4ACA-A479-E50F01A7F25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21">
              <a:extLst>
                <a:ext uri="{FF2B5EF4-FFF2-40B4-BE49-F238E27FC236}">
                  <a16:creationId xmlns:a16="http://schemas.microsoft.com/office/drawing/2014/main" id="{84CE6A5A-03DD-C65A-B5E4-07CD02700DBF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dirty="0">
                  <a:solidFill>
                    <a:srgbClr val="17726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F3B0F50-49CF-4A62-3219-FFD0D4F38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28" y="1849314"/>
            <a:ext cx="4929272" cy="19225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CBA5F4-9449-1073-CAB5-6D6EBD68D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863954"/>
            <a:ext cx="5980469" cy="21074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F989888-9070-BA27-73C7-7E757A518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11" y="3989990"/>
            <a:ext cx="5081264" cy="5966443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058AFEA-9EEC-55B2-D5C1-CFE85815D753}"/>
              </a:ext>
            </a:extLst>
          </p:cNvPr>
          <p:cNvSpPr txBox="1"/>
          <p:nvPr/>
        </p:nvSpPr>
        <p:spPr>
          <a:xfrm>
            <a:off x="5795239" y="5416237"/>
            <a:ext cx="2110067" cy="98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Classification report</a:t>
            </a:r>
            <a:endParaRPr lang="en-US"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392815-0ABB-09F2-A023-8AD07ABDD9FE}"/>
              </a:ext>
            </a:extLst>
          </p:cNvPr>
          <p:cNvSpPr txBox="1"/>
          <p:nvPr/>
        </p:nvSpPr>
        <p:spPr>
          <a:xfrm>
            <a:off x="5847906" y="9006113"/>
            <a:ext cx="24384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Confusion Matrix</a:t>
            </a:r>
            <a:endParaRPr lang="en-US"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361975BE-3D2C-764F-66FC-CE448D369C52}"/>
              </a:ext>
            </a:extLst>
          </p:cNvPr>
          <p:cNvCxnSpPr>
            <a:cxnSpLocks/>
          </p:cNvCxnSpPr>
          <p:nvPr/>
        </p:nvCxnSpPr>
        <p:spPr>
          <a:xfrm>
            <a:off x="5543106" y="8392606"/>
            <a:ext cx="1600200" cy="523089"/>
          </a:xfrm>
          <a:prstGeom prst="bentConnector3">
            <a:avLst>
              <a:gd name="adj1" fmla="val 98980"/>
            </a:avLst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2266722-08CD-E7D0-28D3-F6F8C47F0D32}"/>
              </a:ext>
            </a:extLst>
          </p:cNvPr>
          <p:cNvCxnSpPr>
            <a:cxnSpLocks/>
          </p:cNvCxnSpPr>
          <p:nvPr/>
        </p:nvCxnSpPr>
        <p:spPr>
          <a:xfrm>
            <a:off x="5410200" y="4914900"/>
            <a:ext cx="1322479" cy="523089"/>
          </a:xfrm>
          <a:prstGeom prst="bentConnector3">
            <a:avLst>
              <a:gd name="adj1" fmla="val 98980"/>
            </a:avLst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0"/>
            <a:ext cx="8610600" cy="7501239"/>
            <a:chOff x="0" y="0"/>
            <a:chExt cx="245179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1795" cy="2709333"/>
            </a:xfrm>
            <a:custGeom>
              <a:avLst/>
              <a:gdLst/>
              <a:ahLst/>
              <a:cxnLst/>
              <a:rect l="l" t="t" r="r" b="b"/>
              <a:pathLst>
                <a:path w="2451795" h="2709333">
                  <a:moveTo>
                    <a:pt x="0" y="0"/>
                  </a:moveTo>
                  <a:lnTo>
                    <a:pt x="2451795" y="0"/>
                  </a:lnTo>
                  <a:lnTo>
                    <a:pt x="24517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51795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579190" y="1333500"/>
            <a:ext cx="2992810" cy="0"/>
          </a:xfrm>
          <a:prstGeom prst="line">
            <a:avLst/>
          </a:prstGeom>
          <a:ln w="76200" cap="flat">
            <a:solidFill>
              <a:srgbClr val="EAE4D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grpSp>
        <p:nvGrpSpPr>
          <p:cNvPr id="28" name="Group 28"/>
          <p:cNvGrpSpPr/>
          <p:nvPr/>
        </p:nvGrpSpPr>
        <p:grpSpPr>
          <a:xfrm>
            <a:off x="15941633" y="-1714500"/>
            <a:ext cx="3803190" cy="3803190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EAE4D2"/>
              </a:solidFill>
              <a:prstDash val="solid"/>
              <a:miter/>
            </a:ln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32" name="TextBox 17">
            <a:extLst>
              <a:ext uri="{FF2B5EF4-FFF2-40B4-BE49-F238E27FC236}">
                <a16:creationId xmlns:a16="http://schemas.microsoft.com/office/drawing/2014/main" id="{4F1B3DEB-F8F1-6609-EF45-C3D820E5CF2F}"/>
              </a:ext>
            </a:extLst>
          </p:cNvPr>
          <p:cNvSpPr txBox="1"/>
          <p:nvPr/>
        </p:nvSpPr>
        <p:spPr>
          <a:xfrm>
            <a:off x="1600200" y="495300"/>
            <a:ext cx="4495800" cy="455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Random Forest</a:t>
            </a:r>
          </a:p>
        </p:txBody>
      </p:sp>
      <p:grpSp>
        <p:nvGrpSpPr>
          <p:cNvPr id="33" name="Group 19">
            <a:extLst>
              <a:ext uri="{FF2B5EF4-FFF2-40B4-BE49-F238E27FC236}">
                <a16:creationId xmlns:a16="http://schemas.microsoft.com/office/drawing/2014/main" id="{94320447-8DE1-EE9E-5692-C5B4839D065D}"/>
              </a:ext>
            </a:extLst>
          </p:cNvPr>
          <p:cNvGrpSpPr/>
          <p:nvPr/>
        </p:nvGrpSpPr>
        <p:grpSpPr>
          <a:xfrm>
            <a:off x="471845" y="342900"/>
            <a:ext cx="877649" cy="877649"/>
            <a:chOff x="0" y="0"/>
            <a:chExt cx="812800" cy="812800"/>
          </a:xfrm>
        </p:grpSpPr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35BFDCC0-FAF0-41A4-4751-C46C727E11E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35" name="TextBox 21">
              <a:extLst>
                <a:ext uri="{FF2B5EF4-FFF2-40B4-BE49-F238E27FC236}">
                  <a16:creationId xmlns:a16="http://schemas.microsoft.com/office/drawing/2014/main" id="{CD176057-A110-FA26-D8A4-BDE62E24570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dirty="0">
                  <a:solidFill>
                    <a:srgbClr val="17726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61298455-F270-9CB0-0B9F-3CD416406E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53"/>
          <a:stretch/>
        </p:blipFill>
        <p:spPr>
          <a:xfrm>
            <a:off x="471846" y="1943100"/>
            <a:ext cx="7749365" cy="165849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F0C05C6-259B-DAC3-BC63-02259ABE9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45" y="4000500"/>
            <a:ext cx="7749382" cy="29718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7F99966-6D7B-5F6F-FE56-11DE27B820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60"/>
          <a:stretch/>
        </p:blipFill>
        <p:spPr>
          <a:xfrm>
            <a:off x="9010633" y="342900"/>
            <a:ext cx="6076967" cy="715833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5" name="TextBox 23">
            <a:extLst>
              <a:ext uri="{FF2B5EF4-FFF2-40B4-BE49-F238E27FC236}">
                <a16:creationId xmlns:a16="http://schemas.microsoft.com/office/drawing/2014/main" id="{89BA0F74-0E7B-5511-190A-57D0B623C2C9}"/>
              </a:ext>
            </a:extLst>
          </p:cNvPr>
          <p:cNvSpPr txBox="1"/>
          <p:nvPr/>
        </p:nvSpPr>
        <p:spPr>
          <a:xfrm>
            <a:off x="7162800" y="7658100"/>
            <a:ext cx="10234246" cy="2320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720"/>
              </a:lnSpc>
            </a:pP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Akurasi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= 91,08%</a:t>
            </a:r>
          </a:p>
          <a:p>
            <a:pPr marL="0" lvl="0" indent="0" algn="r">
              <a:lnSpc>
                <a:spcPts val="3720"/>
              </a:lnSpc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True Negative (TN) = 6516; model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0 dan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benar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0.</a:t>
            </a:r>
          </a:p>
          <a:p>
            <a:pPr marL="0" lvl="0" indent="0" algn="r">
              <a:lnSpc>
                <a:spcPts val="3720"/>
              </a:lnSpc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False Negative (FN) = 319; model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0,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tetapi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1.</a:t>
            </a:r>
          </a:p>
          <a:p>
            <a:pPr marL="0" lvl="0" indent="0" algn="r">
              <a:lnSpc>
                <a:spcPts val="3720"/>
              </a:lnSpc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False Positive (FP) = 484; Model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1,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tetapi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0.</a:t>
            </a:r>
          </a:p>
          <a:p>
            <a:pPr marL="0" lvl="0" indent="0" algn="r">
              <a:lnSpc>
                <a:spcPts val="3720"/>
              </a:lnSpc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True Positive (TP) = 1681; model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1 dan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benar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F8ED4-C80B-6043-2A40-59408639D2ED}"/>
              </a:ext>
            </a:extLst>
          </p:cNvPr>
          <p:cNvSpPr txBox="1"/>
          <p:nvPr/>
        </p:nvSpPr>
        <p:spPr>
          <a:xfrm>
            <a:off x="15243148" y="2734619"/>
            <a:ext cx="2110067" cy="98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Classification report</a:t>
            </a:r>
            <a:endParaRPr lang="en-US"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330482-88EB-8F6E-366A-1D811930651E}"/>
              </a:ext>
            </a:extLst>
          </p:cNvPr>
          <p:cNvSpPr txBox="1"/>
          <p:nvPr/>
        </p:nvSpPr>
        <p:spPr>
          <a:xfrm>
            <a:off x="15295815" y="6324495"/>
            <a:ext cx="24384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Confusion Matrix</a:t>
            </a:r>
            <a:endParaRPr lang="en-US"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A645D82-F1B0-BB83-ECF6-0008C46E0496}"/>
              </a:ext>
            </a:extLst>
          </p:cNvPr>
          <p:cNvCxnSpPr>
            <a:cxnSpLocks/>
          </p:cNvCxnSpPr>
          <p:nvPr/>
        </p:nvCxnSpPr>
        <p:spPr>
          <a:xfrm>
            <a:off x="14935200" y="5710988"/>
            <a:ext cx="1600200" cy="523089"/>
          </a:xfrm>
          <a:prstGeom prst="bentConnector3">
            <a:avLst>
              <a:gd name="adj1" fmla="val 98980"/>
            </a:avLst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3E1BEEB0-86A8-2B77-058F-D623E1A687D4}"/>
              </a:ext>
            </a:extLst>
          </p:cNvPr>
          <p:cNvCxnSpPr>
            <a:cxnSpLocks/>
          </p:cNvCxnSpPr>
          <p:nvPr/>
        </p:nvCxnSpPr>
        <p:spPr>
          <a:xfrm>
            <a:off x="14858109" y="2233282"/>
            <a:ext cx="1322479" cy="523089"/>
          </a:xfrm>
          <a:prstGeom prst="bentConnector3">
            <a:avLst>
              <a:gd name="adj1" fmla="val 98980"/>
            </a:avLst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610100"/>
            <a:ext cx="18288000" cy="5676900"/>
            <a:chOff x="0" y="-47625"/>
            <a:chExt cx="4816593" cy="1240483"/>
          </a:xfrm>
        </p:grpSpPr>
        <p:sp>
          <p:nvSpPr>
            <p:cNvPr id="3" name="Freeform 3"/>
            <p:cNvSpPr/>
            <p:nvPr/>
          </p:nvSpPr>
          <p:spPr>
            <a:xfrm>
              <a:off x="0" y="-47625"/>
              <a:ext cx="4816592" cy="1240483"/>
            </a:xfrm>
            <a:custGeom>
              <a:avLst/>
              <a:gdLst/>
              <a:ahLst/>
              <a:cxnLst/>
              <a:rect l="l" t="t" r="r" b="b"/>
              <a:pathLst>
                <a:path w="4816592" h="1192858">
                  <a:moveTo>
                    <a:pt x="0" y="0"/>
                  </a:moveTo>
                  <a:lnTo>
                    <a:pt x="4816592" y="0"/>
                  </a:lnTo>
                  <a:lnTo>
                    <a:pt x="4816592" y="1192858"/>
                  </a:lnTo>
                  <a:lnTo>
                    <a:pt x="0" y="1192858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240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53048" y="-912528"/>
            <a:ext cx="3803190" cy="380319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70933" cy="3185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5" name="TextBox 17">
            <a:extLst>
              <a:ext uri="{FF2B5EF4-FFF2-40B4-BE49-F238E27FC236}">
                <a16:creationId xmlns:a16="http://schemas.microsoft.com/office/drawing/2014/main" id="{4D114785-7B89-D2F8-944D-815CC7919783}"/>
              </a:ext>
            </a:extLst>
          </p:cNvPr>
          <p:cNvSpPr txBox="1"/>
          <p:nvPr/>
        </p:nvSpPr>
        <p:spPr>
          <a:xfrm>
            <a:off x="1600200" y="495300"/>
            <a:ext cx="4495800" cy="455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b="1" dirty="0">
                <a:solidFill>
                  <a:schemeClr val="bg2">
                    <a:lumMod val="50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Naïve Bayes</a:t>
            </a:r>
          </a:p>
        </p:txBody>
      </p:sp>
      <p:grpSp>
        <p:nvGrpSpPr>
          <p:cNvPr id="6" name="Group 19">
            <a:extLst>
              <a:ext uri="{FF2B5EF4-FFF2-40B4-BE49-F238E27FC236}">
                <a16:creationId xmlns:a16="http://schemas.microsoft.com/office/drawing/2014/main" id="{3E914FC3-84A6-8537-EDDA-071684962B0A}"/>
              </a:ext>
            </a:extLst>
          </p:cNvPr>
          <p:cNvGrpSpPr/>
          <p:nvPr/>
        </p:nvGrpSpPr>
        <p:grpSpPr>
          <a:xfrm>
            <a:off x="471845" y="342900"/>
            <a:ext cx="877649" cy="877649"/>
            <a:chOff x="0" y="0"/>
            <a:chExt cx="812800" cy="812800"/>
          </a:xfrm>
        </p:grpSpPr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38CED5E1-8F06-6968-75E4-E09EA145D23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0" name="TextBox 21">
              <a:extLst>
                <a:ext uri="{FF2B5EF4-FFF2-40B4-BE49-F238E27FC236}">
                  <a16:creationId xmlns:a16="http://schemas.microsoft.com/office/drawing/2014/main" id="{E589AA66-4FCB-F6F7-2076-FACE113B6C0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dirty="0">
                  <a:solidFill>
                    <a:srgbClr val="17726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51B8FE4-E943-4A2A-A1E3-B8477D2BF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57" y="1734953"/>
            <a:ext cx="6529243" cy="272649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762A6A3-F64D-6502-D186-46AB4F91F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43" y="4914900"/>
            <a:ext cx="7318457" cy="287891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0A02074-62DA-FD0D-08F9-019B6D99C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5057" y="495300"/>
            <a:ext cx="5849425" cy="67818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10" name="TextBox 23">
            <a:extLst>
              <a:ext uri="{FF2B5EF4-FFF2-40B4-BE49-F238E27FC236}">
                <a16:creationId xmlns:a16="http://schemas.microsoft.com/office/drawing/2014/main" id="{4AF9B2A3-0191-F652-DE29-E924C72A9057}"/>
              </a:ext>
            </a:extLst>
          </p:cNvPr>
          <p:cNvSpPr txBox="1"/>
          <p:nvPr/>
        </p:nvSpPr>
        <p:spPr>
          <a:xfrm>
            <a:off x="7239000" y="7581900"/>
            <a:ext cx="10664385" cy="2323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720"/>
              </a:lnSpc>
            </a:pP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Akurasi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= 48,71%</a:t>
            </a:r>
          </a:p>
          <a:p>
            <a:pPr marL="0" lvl="0" indent="0" algn="r">
              <a:lnSpc>
                <a:spcPts val="3720"/>
              </a:lnSpc>
            </a:pP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True Negative (TN) = 2647; model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0 dan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benar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0.</a:t>
            </a:r>
          </a:p>
          <a:p>
            <a:pPr marL="0" lvl="0" indent="0" algn="r">
              <a:lnSpc>
                <a:spcPts val="3720"/>
              </a:lnSpc>
            </a:pP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False Negative (FN) = 263; model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0,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tetapi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1.</a:t>
            </a:r>
          </a:p>
          <a:p>
            <a:pPr marL="0" lvl="0" indent="0" algn="r">
              <a:lnSpc>
                <a:spcPts val="3720"/>
              </a:lnSpc>
            </a:pP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False Positive (FP) = 4353; Model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1,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tetapi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0.</a:t>
            </a:r>
          </a:p>
          <a:p>
            <a:pPr marL="0" lvl="0" indent="0" algn="r">
              <a:lnSpc>
                <a:spcPts val="3720"/>
              </a:lnSpc>
            </a:pP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True Positive (TP) = 1737; model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1 dan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benar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403CF3-1F08-E92B-EC75-429888253CF6}"/>
              </a:ext>
            </a:extLst>
          </p:cNvPr>
          <p:cNvSpPr txBox="1"/>
          <p:nvPr/>
        </p:nvSpPr>
        <p:spPr>
          <a:xfrm>
            <a:off x="14939239" y="2734619"/>
            <a:ext cx="2110067" cy="98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Classification report</a:t>
            </a:r>
            <a:endParaRPr lang="en-US"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D009BF-E420-F770-CBA9-B666649D99EE}"/>
              </a:ext>
            </a:extLst>
          </p:cNvPr>
          <p:cNvSpPr txBox="1"/>
          <p:nvPr/>
        </p:nvSpPr>
        <p:spPr>
          <a:xfrm>
            <a:off x="14991906" y="6324495"/>
            <a:ext cx="24384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Confusion Matrix</a:t>
            </a:r>
            <a:endParaRPr lang="en-US" sz="1800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BBC0281-4AF5-FDB4-8CB9-88760038D1B1}"/>
              </a:ext>
            </a:extLst>
          </p:cNvPr>
          <p:cNvCxnSpPr>
            <a:cxnSpLocks/>
          </p:cNvCxnSpPr>
          <p:nvPr/>
        </p:nvCxnSpPr>
        <p:spPr>
          <a:xfrm>
            <a:off x="14631291" y="5710988"/>
            <a:ext cx="1600200" cy="523089"/>
          </a:xfrm>
          <a:prstGeom prst="bentConnector3">
            <a:avLst>
              <a:gd name="adj1" fmla="val 98980"/>
            </a:avLst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826FB37C-B6B5-81BB-3AC3-29332010F634}"/>
              </a:ext>
            </a:extLst>
          </p:cNvPr>
          <p:cNvCxnSpPr>
            <a:cxnSpLocks/>
          </p:cNvCxnSpPr>
          <p:nvPr/>
        </p:nvCxnSpPr>
        <p:spPr>
          <a:xfrm>
            <a:off x="14554200" y="2233282"/>
            <a:ext cx="1322479" cy="523089"/>
          </a:xfrm>
          <a:prstGeom prst="bentConnector3">
            <a:avLst>
              <a:gd name="adj1" fmla="val 98980"/>
            </a:avLst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BCF51-C58E-8B16-A741-D8E541F6C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854BA1D-7832-AE2C-FAE5-A463A2E3EEED}"/>
              </a:ext>
            </a:extLst>
          </p:cNvPr>
          <p:cNvGrpSpPr/>
          <p:nvPr/>
        </p:nvGrpSpPr>
        <p:grpSpPr>
          <a:xfrm>
            <a:off x="0" y="-38100"/>
            <a:ext cx="18288000" cy="10287000"/>
            <a:chOff x="0" y="0"/>
            <a:chExt cx="2451795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A2D1E62-0CAF-26E6-A482-40F8923B9EC6}"/>
                </a:ext>
              </a:extLst>
            </p:cNvPr>
            <p:cNvSpPr/>
            <p:nvPr/>
          </p:nvSpPr>
          <p:spPr>
            <a:xfrm>
              <a:off x="0" y="0"/>
              <a:ext cx="2451795" cy="2709333"/>
            </a:xfrm>
            <a:custGeom>
              <a:avLst/>
              <a:gdLst/>
              <a:ahLst/>
              <a:cxnLst/>
              <a:rect l="l" t="t" r="r" b="b"/>
              <a:pathLst>
                <a:path w="2451795" h="2709333">
                  <a:moveTo>
                    <a:pt x="0" y="0"/>
                  </a:moveTo>
                  <a:lnTo>
                    <a:pt x="2451795" y="0"/>
                  </a:lnTo>
                  <a:lnTo>
                    <a:pt x="24517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AED6427-6014-5EA9-28D7-3CB875C18583}"/>
                </a:ext>
              </a:extLst>
            </p:cNvPr>
            <p:cNvSpPr txBox="1"/>
            <p:nvPr/>
          </p:nvSpPr>
          <p:spPr>
            <a:xfrm>
              <a:off x="0" y="-47625"/>
              <a:ext cx="2451795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14A7FCA-FC17-0968-CC66-95240A2CD449}"/>
              </a:ext>
            </a:extLst>
          </p:cNvPr>
          <p:cNvGrpSpPr/>
          <p:nvPr/>
        </p:nvGrpSpPr>
        <p:grpSpPr>
          <a:xfrm>
            <a:off x="10223052" y="448824"/>
            <a:ext cx="4000343" cy="685800"/>
            <a:chOff x="0" y="0"/>
            <a:chExt cx="1760253" cy="145836"/>
          </a:xfrm>
          <a:solidFill>
            <a:schemeClr val="bg1"/>
          </a:solidFill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8F6148F-6454-839C-CCBD-A38065BE89DB}"/>
                </a:ext>
              </a:extLst>
            </p:cNvPr>
            <p:cNvSpPr/>
            <p:nvPr/>
          </p:nvSpPr>
          <p:spPr>
            <a:xfrm>
              <a:off x="0" y="0"/>
              <a:ext cx="1760253" cy="145836"/>
            </a:xfrm>
            <a:custGeom>
              <a:avLst/>
              <a:gdLst/>
              <a:ahLst/>
              <a:cxnLst/>
              <a:rect l="l" t="t" r="r" b="b"/>
              <a:pathLst>
                <a:path w="1760253" h="145836">
                  <a:moveTo>
                    <a:pt x="59077" y="0"/>
                  </a:moveTo>
                  <a:lnTo>
                    <a:pt x="1701177" y="0"/>
                  </a:lnTo>
                  <a:cubicBezTo>
                    <a:pt x="1716845" y="0"/>
                    <a:pt x="1731871" y="6224"/>
                    <a:pt x="1742950" y="17303"/>
                  </a:cubicBezTo>
                  <a:cubicBezTo>
                    <a:pt x="1754029" y="28382"/>
                    <a:pt x="1760253" y="43409"/>
                    <a:pt x="1760253" y="59077"/>
                  </a:cubicBezTo>
                  <a:lnTo>
                    <a:pt x="1760253" y="86759"/>
                  </a:lnTo>
                  <a:cubicBezTo>
                    <a:pt x="1760253" y="119386"/>
                    <a:pt x="1733804" y="145836"/>
                    <a:pt x="1701177" y="145836"/>
                  </a:cubicBezTo>
                  <a:lnTo>
                    <a:pt x="59077" y="145836"/>
                  </a:lnTo>
                  <a:cubicBezTo>
                    <a:pt x="43409" y="145836"/>
                    <a:pt x="28382" y="139611"/>
                    <a:pt x="17303" y="128532"/>
                  </a:cubicBezTo>
                  <a:cubicBezTo>
                    <a:pt x="6224" y="117453"/>
                    <a:pt x="0" y="102427"/>
                    <a:pt x="0" y="86759"/>
                  </a:cubicBezTo>
                  <a:lnTo>
                    <a:pt x="0" y="59077"/>
                  </a:lnTo>
                  <a:cubicBezTo>
                    <a:pt x="0" y="26450"/>
                    <a:pt x="26450" y="0"/>
                    <a:pt x="59077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D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8E1C531-A181-508A-08F6-3601C317C3E5}"/>
                </a:ext>
              </a:extLst>
            </p:cNvPr>
            <p:cNvSpPr txBox="1"/>
            <p:nvPr/>
          </p:nvSpPr>
          <p:spPr>
            <a:xfrm>
              <a:off x="0" y="-38100"/>
              <a:ext cx="1760253" cy="1839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 dirty="0">
                  <a:solidFill>
                    <a:schemeClr val="bg2">
                      <a:lumMod val="50000"/>
                    </a:schemeClr>
                  </a:solidFill>
                  <a:latin typeface="Inter Bold"/>
                  <a:ea typeface="Inter Bold"/>
                  <a:cs typeface="Inter Bold"/>
                  <a:sym typeface="Inter Bold"/>
                </a:rPr>
                <a:t>K-Nearest Neighbor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7D2129D-8E5D-3F60-F4D1-C4BC7B55EA87}"/>
              </a:ext>
            </a:extLst>
          </p:cNvPr>
          <p:cNvGrpSpPr/>
          <p:nvPr/>
        </p:nvGrpSpPr>
        <p:grpSpPr>
          <a:xfrm>
            <a:off x="15941633" y="7975432"/>
            <a:ext cx="3803190" cy="3803190"/>
            <a:chOff x="0" y="0"/>
            <a:chExt cx="812800" cy="8128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3134D7F-D114-EEB7-CEAD-5C206E364B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EAE4D2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82534984-9FC6-664C-754F-E715E5E58984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31" name="TextBox 31">
            <a:extLst>
              <a:ext uri="{FF2B5EF4-FFF2-40B4-BE49-F238E27FC236}">
                <a16:creationId xmlns:a16="http://schemas.microsoft.com/office/drawing/2014/main" id="{193EBE26-CA66-F9F8-AA6B-B92976BFDA66}"/>
              </a:ext>
            </a:extLst>
          </p:cNvPr>
          <p:cNvSpPr txBox="1"/>
          <p:nvPr/>
        </p:nvSpPr>
        <p:spPr>
          <a:xfrm>
            <a:off x="566792" y="7544572"/>
            <a:ext cx="12006208" cy="2323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3720"/>
              </a:lnSpc>
            </a:pP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Akurasi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= 77,74%</a:t>
            </a:r>
          </a:p>
          <a:p>
            <a:pPr marL="0" lvl="0" indent="0">
              <a:lnSpc>
                <a:spcPts val="3720"/>
              </a:lnSpc>
            </a:pP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True Negative (TN) = 2647; model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0 dan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benar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0.</a:t>
            </a:r>
          </a:p>
          <a:p>
            <a:pPr marL="0" lvl="0" indent="0">
              <a:lnSpc>
                <a:spcPts val="3720"/>
              </a:lnSpc>
            </a:pP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False Negative (FN) = 263; model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0,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tetapi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1.</a:t>
            </a:r>
          </a:p>
          <a:p>
            <a:pPr marL="0" lvl="0" indent="0">
              <a:lnSpc>
                <a:spcPts val="3720"/>
              </a:lnSpc>
            </a:pP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False Positive (FP) = 4353; Model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1,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tetapi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0.</a:t>
            </a:r>
          </a:p>
          <a:p>
            <a:pPr marL="0" lvl="0" indent="0">
              <a:lnSpc>
                <a:spcPts val="3720"/>
              </a:lnSpc>
            </a:pP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True Positive (TP) = 1737; model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memprediksi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1 dan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benar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data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asli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210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21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1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5BA85F2-330F-0744-4E65-4ECA23DCF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58" y="363470"/>
            <a:ext cx="5883853" cy="6893915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grpSp>
        <p:nvGrpSpPr>
          <p:cNvPr id="32" name="Group 19">
            <a:extLst>
              <a:ext uri="{FF2B5EF4-FFF2-40B4-BE49-F238E27FC236}">
                <a16:creationId xmlns:a16="http://schemas.microsoft.com/office/drawing/2014/main" id="{58867021-6687-3C80-3271-E6782D699305}"/>
              </a:ext>
            </a:extLst>
          </p:cNvPr>
          <p:cNvGrpSpPr/>
          <p:nvPr/>
        </p:nvGrpSpPr>
        <p:grpSpPr>
          <a:xfrm>
            <a:off x="9067800" y="342900"/>
            <a:ext cx="877649" cy="877649"/>
            <a:chOff x="0" y="0"/>
            <a:chExt cx="812800" cy="812800"/>
          </a:xfrm>
        </p:grpSpPr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B08704AF-5618-0843-188E-F985CF5DCBA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35" name="TextBox 21">
              <a:extLst>
                <a:ext uri="{FF2B5EF4-FFF2-40B4-BE49-F238E27FC236}">
                  <a16:creationId xmlns:a16="http://schemas.microsoft.com/office/drawing/2014/main" id="{9930CA25-B4BF-4074-FCB2-4E538FF4570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dirty="0">
                  <a:solidFill>
                    <a:srgbClr val="17726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05</a:t>
              </a: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3ED32AF5-A672-89EC-22D4-ACF103E57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00" y="1865135"/>
            <a:ext cx="8300223" cy="1620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F45C477-9D9B-AC00-C8E0-6BC67498B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6197" y="3960635"/>
            <a:ext cx="8445011" cy="316406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3B30A95-F24B-21E2-7BFD-2DAF1F906146}"/>
              </a:ext>
            </a:extLst>
          </p:cNvPr>
          <p:cNvSpPr txBox="1"/>
          <p:nvPr/>
        </p:nvSpPr>
        <p:spPr>
          <a:xfrm>
            <a:off x="6652933" y="1911037"/>
            <a:ext cx="2110067" cy="98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Classification report</a:t>
            </a:r>
            <a:endParaRPr lang="en-US" sz="1800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F0D5C3-1A4D-2E8E-9D9C-DAD4D87F3D4A}"/>
              </a:ext>
            </a:extLst>
          </p:cNvPr>
          <p:cNvSpPr txBox="1"/>
          <p:nvPr/>
        </p:nvSpPr>
        <p:spPr>
          <a:xfrm>
            <a:off x="6705600" y="5500913"/>
            <a:ext cx="24384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ts val="3720"/>
              </a:lnSpc>
            </a:pPr>
            <a:r>
              <a:rPr lang="en-US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Confusion Matrix</a:t>
            </a:r>
            <a:endParaRPr lang="en-US" sz="1800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C7592A26-5255-382E-9D0D-C6623B7D4E9E}"/>
              </a:ext>
            </a:extLst>
          </p:cNvPr>
          <p:cNvCxnSpPr>
            <a:cxnSpLocks/>
          </p:cNvCxnSpPr>
          <p:nvPr/>
        </p:nvCxnSpPr>
        <p:spPr>
          <a:xfrm>
            <a:off x="6344985" y="4887406"/>
            <a:ext cx="1600200" cy="523089"/>
          </a:xfrm>
          <a:prstGeom prst="bentConnector3">
            <a:avLst>
              <a:gd name="adj1" fmla="val 98980"/>
            </a:avLst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5129D204-9D1D-50EC-C173-F8555BA45999}"/>
              </a:ext>
            </a:extLst>
          </p:cNvPr>
          <p:cNvCxnSpPr>
            <a:cxnSpLocks/>
          </p:cNvCxnSpPr>
          <p:nvPr/>
        </p:nvCxnSpPr>
        <p:spPr>
          <a:xfrm>
            <a:off x="6267894" y="1409700"/>
            <a:ext cx="1322479" cy="523089"/>
          </a:xfrm>
          <a:prstGeom prst="bentConnector3">
            <a:avLst>
              <a:gd name="adj1" fmla="val 98980"/>
            </a:avLst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498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57494"/>
            <a:ext cx="18288000" cy="1495425"/>
            <a:chOff x="0" y="0"/>
            <a:chExt cx="4816593" cy="3938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93857"/>
            </a:xfrm>
            <a:custGeom>
              <a:avLst/>
              <a:gdLst/>
              <a:ahLst/>
              <a:cxnLst/>
              <a:rect l="l" t="t" r="r" b="b"/>
              <a:pathLst>
                <a:path w="4816592" h="393857">
                  <a:moveTo>
                    <a:pt x="0" y="0"/>
                  </a:moveTo>
                  <a:lnTo>
                    <a:pt x="4816592" y="0"/>
                  </a:lnTo>
                  <a:lnTo>
                    <a:pt x="4816592" y="393857"/>
                  </a:lnTo>
                  <a:lnTo>
                    <a:pt x="0" y="393857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441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39944" y="755626"/>
            <a:ext cx="11352056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65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PERBANDINGAN AKURASI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5357705" y="7637029"/>
            <a:ext cx="4136867" cy="413686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AC1FBEAD-C24F-CF38-7C13-34DA0D612D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9" t="1973" r="5754"/>
          <a:stretch/>
        </p:blipFill>
        <p:spPr>
          <a:xfrm>
            <a:off x="3491909" y="2465470"/>
            <a:ext cx="11863004" cy="5518624"/>
          </a:xfrm>
          <a:prstGeom prst="rect">
            <a:avLst/>
          </a:prstGeom>
        </p:spPr>
      </p:pic>
      <p:sp>
        <p:nvSpPr>
          <p:cNvPr id="20" name="TextBox 10">
            <a:extLst>
              <a:ext uri="{FF2B5EF4-FFF2-40B4-BE49-F238E27FC236}">
                <a16:creationId xmlns:a16="http://schemas.microsoft.com/office/drawing/2014/main" id="{6E83C7EF-AB63-ECE8-A18A-702FA843682B}"/>
              </a:ext>
            </a:extLst>
          </p:cNvPr>
          <p:cNvSpPr txBox="1"/>
          <p:nvPr/>
        </p:nvSpPr>
        <p:spPr>
          <a:xfrm>
            <a:off x="1423650" y="8654824"/>
            <a:ext cx="15440696" cy="861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450"/>
              </a:lnSpc>
            </a:pP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dilihat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dari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keenam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model, Random Forest </a:t>
            </a: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memiliki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nilai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akurasi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tertinggi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mencapai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91,08% dan </a:t>
            </a: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nilai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terendah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ada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pada Naïve Bayes yang </a:t>
            </a: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mencapai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48,71%. </a:t>
            </a: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Untuk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model yang lain </a:t>
            </a: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mencapai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akurasi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70% </a:t>
            </a: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atas</a:t>
            </a: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02759" y="6802807"/>
            <a:ext cx="5402508" cy="540250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74658" y="8563446"/>
            <a:ext cx="16138684" cy="0"/>
          </a:xfrm>
          <a:prstGeom prst="line">
            <a:avLst/>
          </a:prstGeom>
          <a:ln w="38100" cap="flat">
            <a:solidFill>
              <a:srgbClr val="1772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grpSp>
        <p:nvGrpSpPr>
          <p:cNvPr id="6" name="Group 6"/>
          <p:cNvGrpSpPr/>
          <p:nvPr/>
        </p:nvGrpSpPr>
        <p:grpSpPr>
          <a:xfrm>
            <a:off x="10785978" y="1231643"/>
            <a:ext cx="4758515" cy="475851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6275918" y="793769"/>
            <a:ext cx="633545" cy="300142"/>
          </a:xfrm>
          <a:custGeom>
            <a:avLst/>
            <a:gdLst/>
            <a:ahLst/>
            <a:cxnLst/>
            <a:rect l="l" t="t" r="r" b="b"/>
            <a:pathLst>
              <a:path w="633545" h="300142">
                <a:moveTo>
                  <a:pt x="0" y="0"/>
                </a:moveTo>
                <a:lnTo>
                  <a:pt x="633545" y="0"/>
                </a:lnTo>
                <a:lnTo>
                  <a:pt x="633545" y="300141"/>
                </a:lnTo>
                <a:lnTo>
                  <a:pt x="0" y="30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7" name="TextBox 17"/>
          <p:cNvSpPr txBox="1"/>
          <p:nvPr/>
        </p:nvSpPr>
        <p:spPr>
          <a:xfrm>
            <a:off x="1149513" y="2386323"/>
            <a:ext cx="14166687" cy="2528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3"/>
              </a:lnSpc>
            </a:pPr>
            <a:r>
              <a:rPr lang="en-US" sz="14500" b="1" dirty="0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344595" y="8862553"/>
            <a:ext cx="2868747" cy="36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99"/>
              </a:lnSpc>
            </a:pPr>
            <a:r>
              <a:rPr lang="en-US" sz="19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FEBRUARI 2025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CDC5D7-8E77-9EE8-26AA-E73A89834C90}"/>
              </a:ext>
            </a:extLst>
          </p:cNvPr>
          <p:cNvSpPr txBox="1"/>
          <p:nvPr/>
        </p:nvSpPr>
        <p:spPr>
          <a:xfrm>
            <a:off x="13187866" y="448297"/>
            <a:ext cx="4588303" cy="40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000" b="1" dirty="0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Digital Skill Fair 36.0 – Data Science</a:t>
            </a:r>
          </a:p>
        </p:txBody>
      </p:sp>
      <p:pic>
        <p:nvPicPr>
          <p:cNvPr id="28" name="Picture 27" descr="A blue text on a white background&#10;&#10;AI-generated content may be incorrect.">
            <a:extLst>
              <a:ext uri="{FF2B5EF4-FFF2-40B4-BE49-F238E27FC236}">
                <a16:creationId xmlns:a16="http://schemas.microsoft.com/office/drawing/2014/main" id="{82F00CA4-791C-FD43-A05C-2298169B38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49118"/>
            <a:ext cx="2382509" cy="722197"/>
          </a:xfrm>
          <a:prstGeom prst="rect">
            <a:avLst/>
          </a:prstGeom>
        </p:spPr>
      </p:pic>
      <p:pic>
        <p:nvPicPr>
          <p:cNvPr id="34" name="Picture 33" descr="A blue square with white letters on it&#10;&#10;AI-generated content may be incorrect.">
            <a:extLst>
              <a:ext uri="{FF2B5EF4-FFF2-40B4-BE49-F238E27FC236}">
                <a16:creationId xmlns:a16="http://schemas.microsoft.com/office/drawing/2014/main" id="{0E587B40-7663-D4F4-FCF4-7DC2A19438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0" t="7643" r="10148" b="12094"/>
          <a:stretch/>
        </p:blipFill>
        <p:spPr>
          <a:xfrm>
            <a:off x="4419600" y="5231337"/>
            <a:ext cx="615252" cy="599855"/>
          </a:xfrm>
          <a:prstGeom prst="rect">
            <a:avLst/>
          </a:prstGeom>
        </p:spPr>
      </p:pic>
      <p:pic>
        <p:nvPicPr>
          <p:cNvPr id="38" name="Picture 37" descr="A white cat in a circle&#10;&#10;AI-generated content may be incorrect.">
            <a:extLst>
              <a:ext uri="{FF2B5EF4-FFF2-40B4-BE49-F238E27FC236}">
                <a16:creationId xmlns:a16="http://schemas.microsoft.com/office/drawing/2014/main" id="{20B0FDE4-8159-0135-3F86-AB62A96DC8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148" y="6130126"/>
            <a:ext cx="599943" cy="584928"/>
          </a:xfrm>
          <a:prstGeom prst="rect">
            <a:avLst/>
          </a:prstGeom>
        </p:spPr>
      </p:pic>
      <p:pic>
        <p:nvPicPr>
          <p:cNvPr id="40" name="Picture 3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E70E8EF-289F-22D7-A024-79C8CA144CA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347" y="7120726"/>
            <a:ext cx="539053" cy="38497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FBD92EE-36F1-8AC1-DBFD-DC42351B6703}"/>
              </a:ext>
            </a:extLst>
          </p:cNvPr>
          <p:cNvSpPr txBox="1"/>
          <p:nvPr/>
        </p:nvSpPr>
        <p:spPr>
          <a:xfrm>
            <a:off x="5194492" y="5273722"/>
            <a:ext cx="6076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8"/>
              </a:rPr>
              <a:t>http://www.linkedin.com/in/raudahyasminghozali</a:t>
            </a:r>
            <a:endParaRPr lang="en-ID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C86433-17CC-260F-23AB-F121F605903C}"/>
              </a:ext>
            </a:extLst>
          </p:cNvPr>
          <p:cNvSpPr txBox="1"/>
          <p:nvPr/>
        </p:nvSpPr>
        <p:spPr>
          <a:xfrm>
            <a:off x="5259806" y="7122114"/>
            <a:ext cx="4203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raudahyasminghozali@gmail.com</a:t>
            </a:r>
            <a:endParaRPr lang="en-ID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0A9E17-5114-E0B4-A5CD-0F94131CE405}"/>
              </a:ext>
            </a:extLst>
          </p:cNvPr>
          <p:cNvSpPr txBox="1"/>
          <p:nvPr/>
        </p:nvSpPr>
        <p:spPr>
          <a:xfrm>
            <a:off x="5259806" y="6163127"/>
            <a:ext cx="46074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9"/>
              </a:rPr>
              <a:t>https://github.com/RaudahYasminG0</a:t>
            </a:r>
            <a:endParaRPr lang="en-ID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1010</Words>
  <Application>Microsoft Office PowerPoint</Application>
  <PresentationFormat>Custom</PresentationFormat>
  <Paragraphs>120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Open Sans Semi-Bold</vt:lpstr>
      <vt:lpstr>Aptos</vt:lpstr>
      <vt:lpstr>Open Sans Bold</vt:lpstr>
      <vt:lpstr>Open Sans</vt:lpstr>
      <vt:lpstr>Arial</vt:lpstr>
      <vt:lpstr>Inter Bold</vt:lpstr>
      <vt:lpstr>Inter Ultra-Bold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Green Simple and Professional Business Pitch Deck Presentation</dc:title>
  <cp:lastModifiedBy>hello yasmin</cp:lastModifiedBy>
  <cp:revision>11</cp:revision>
  <dcterms:created xsi:type="dcterms:W3CDTF">2006-08-16T00:00:00Z</dcterms:created>
  <dcterms:modified xsi:type="dcterms:W3CDTF">2025-02-27T06:25:53Z</dcterms:modified>
  <dc:identifier>DAGgLkGOn18</dc:identifier>
</cp:coreProperties>
</file>